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17"/>
  </p:notesMasterIdLst>
  <p:sldIdLst>
    <p:sldId id="256" r:id="rId7"/>
    <p:sldId id="272" r:id="rId8"/>
    <p:sldId id="259" r:id="rId9"/>
    <p:sldId id="270" r:id="rId10"/>
    <p:sldId id="268" r:id="rId11"/>
    <p:sldId id="267" r:id="rId12"/>
    <p:sldId id="261" r:id="rId13"/>
    <p:sldId id="264" r:id="rId14"/>
    <p:sldId id="271" r:id="rId15"/>
    <p:sldId id="260" r:id="rId16"/>
  </p:sldIdLst>
  <p:sldSz cx="9144000" cy="5143500" type="screen16x9"/>
  <p:notesSz cx="6858000" cy="9144000"/>
  <p:embeddedFontLst>
    <p:embeddedFont>
      <p:font typeface="Inter" panose="020B0604020202020204" charset="0"/>
      <p:regular r:id="rId18"/>
      <p:bold r:id="rId19"/>
      <p:italic r:id="rId20"/>
      <p:boldItalic r:id="rId21"/>
    </p:embeddedFont>
    <p:embeddedFont>
      <p:font typeface="Montserrat" panose="00000500000000000000" pitchFamily="2" charset="0"/>
      <p:regular r:id="rId22"/>
      <p:bold r:id="rId23"/>
      <p:italic r:id="rId24"/>
      <p:boldItalic r:id="rId25"/>
    </p:embeddedFont>
    <p:embeddedFont>
      <p:font typeface="Open Sans" panose="020B0606030504020204" pitchFamily="34" charset="0"/>
      <p:regular r:id="rId26"/>
      <p:bold r:id="rId27"/>
      <p:italic r:id="rId28"/>
      <p:boldItalic r:id="rId29"/>
    </p:embeddedFont>
    <p:embeddedFont>
      <p:font typeface="Open Sans Medium" panose="020B0604020202020204" charset="0"/>
      <p:regular r:id="rId30"/>
      <p:bold r:id="rId31"/>
      <p:italic r:id="rId32"/>
      <p:boldItalic r:id="rId33"/>
    </p:embeddedFont>
    <p:embeddedFont>
      <p:font typeface="Open Sans SemiBold" panose="020B0706030804020204" pitchFamily="34" charset="0"/>
      <p:bold r:id="rId34"/>
      <p:boldItalic r:id="rId35"/>
    </p:embeddedFont>
    <p:embeddedFont>
      <p:font typeface="Roboto" panose="02000000000000000000" pitchFamily="2"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859C06-2014-4A3D-B5EE-7F03E77ED81E}" v="8" dt="2025-11-18T12:14:55.0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font" Target="fonts/font1.fntdata"/><Relationship Id="rId26" Type="http://schemas.openxmlformats.org/officeDocument/2006/relationships/font" Target="fonts/font9.fntdata"/><Relationship Id="rId39" Type="http://schemas.openxmlformats.org/officeDocument/2006/relationships/font" Target="fonts/font22.fntdata"/><Relationship Id="rId21" Type="http://schemas.openxmlformats.org/officeDocument/2006/relationships/font" Target="fonts/font4.fntdata"/><Relationship Id="rId34" Type="http://schemas.openxmlformats.org/officeDocument/2006/relationships/font" Target="fonts/font17.fntdata"/><Relationship Id="rId42"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font" Target="fonts/font3.fntdata"/><Relationship Id="rId29" Type="http://schemas.openxmlformats.org/officeDocument/2006/relationships/font" Target="fonts/font12.fntdata"/><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font" Target="fonts/font20.fntdata"/><Relationship Id="rId40"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font" Target="fonts/font19.fntdata"/><Relationship Id="rId10" Type="http://schemas.openxmlformats.org/officeDocument/2006/relationships/slide" Target="slides/slide4.xml"/><Relationship Id="rId19" Type="http://schemas.openxmlformats.org/officeDocument/2006/relationships/font" Target="fonts/font2.fntdata"/><Relationship Id="rId31" Type="http://schemas.openxmlformats.org/officeDocument/2006/relationships/font" Target="fonts/font14.fntdata"/><Relationship Id="rId44"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font" Target="fonts/font18.fntdata"/><Relationship Id="rId43" Type="http://schemas.openxmlformats.org/officeDocument/2006/relationships/tableStyles" Target="tableStyles.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font" Target="fonts/font2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notes.ietf.org/notes-ietf-interim-2025-ippm-01-ipp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ietf.org/how/meetings/preparation"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www.ietf.org/how/meetings/issu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lvl="0"/>
            <a:r>
              <a:rPr lang="en-US" sz="3600" dirty="0">
                <a:latin typeface="Inter"/>
                <a:ea typeface="Inter"/>
                <a:cs typeface="Inter"/>
                <a:sym typeface="Inter"/>
              </a:rPr>
              <a:t>BMWG &amp; IPPM</a:t>
            </a:r>
            <a:r>
              <a:rPr lang="en-US" sz="3600" dirty="0"/>
              <a:t> interim-2025-01</a:t>
            </a:r>
            <a:endParaRPr lang="en-US" sz="3600" dirty="0">
              <a:latin typeface="Inter"/>
              <a:ea typeface="Inter"/>
              <a:cs typeface="Inter"/>
              <a:sym typeface="Inter"/>
            </a:endParaRP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20 November 2025</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2025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IETF interim-2025-01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3</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a:t>
            </a:r>
            <a:r>
              <a:rPr lang="en-001" sz="1500" dirty="0"/>
              <a:t>.</a:t>
            </a:r>
          </a:p>
          <a:p>
            <a:endParaRPr lang="en-001" sz="1500" dirty="0"/>
          </a:p>
          <a:p>
            <a:r>
              <a:rPr lang="en-US" sz="1500" dirty="0"/>
              <a:t>Qin </a:t>
            </a:r>
            <a:r>
              <a:rPr lang="en-001" sz="1500" dirty="0"/>
              <a:t>presented the rationale for joint chartering at IETF 124</a:t>
            </a:r>
            <a:r>
              <a:rPr lang="en-US" sz="1500" dirty="0"/>
              <a:t>.</a:t>
            </a:r>
            <a:r>
              <a:rPr lang="en-001" sz="1500" dirty="0"/>
              <a:t> Since then we have collected feedback from participants of both working groups.</a:t>
            </a:r>
            <a:endParaRPr lang="en-US" sz="1500" dirty="0"/>
          </a:p>
          <a:p>
            <a:pPr>
              <a:spcBef>
                <a:spcPts val="1200"/>
              </a:spcBef>
            </a:pPr>
            <a:r>
              <a:rPr lang="en-001" sz="1500" dirty="0"/>
              <a:t>At the end of this meeting Qin will present the current status of the ongoing discussions.</a:t>
            </a:r>
            <a:endParaRPr lang="en-US" sz="1500"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4</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https://notes.ietf.org/notes-ietf-interim-2025-ippm-01-ippm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8</a:t>
            </a:fld>
            <a:endParaRPr lang="en-US" dirty="0"/>
          </a:p>
        </p:txBody>
      </p:sp>
      <p:pic>
        <p:nvPicPr>
          <p:cNvPr id="7" name="Picture 6">
            <a:extLst>
              <a:ext uri="{FF2B5EF4-FFF2-40B4-BE49-F238E27FC236}">
                <a16:creationId xmlns:a16="http://schemas.microsoft.com/office/drawing/2014/main" id="{8249488F-129E-0F6F-19AF-B00E317A45AF}"/>
              </a:ext>
            </a:extLst>
          </p:cNvPr>
          <p:cNvPicPr>
            <a:picLocks noChangeAspect="1"/>
          </p:cNvPicPr>
          <p:nvPr/>
        </p:nvPicPr>
        <p:blipFill>
          <a:blip r:embed="rId3"/>
          <a:stretch>
            <a:fillRect/>
          </a:stretch>
        </p:blipFill>
        <p:spPr>
          <a:xfrm>
            <a:off x="471900" y="1951233"/>
            <a:ext cx="6156511" cy="2974044"/>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a:t>
            </a:r>
            <a:r>
              <a:rPr lang="de-CH" dirty="0" err="1"/>
              <a:t>Chartering</a:t>
            </a:r>
            <a:r>
              <a:rPr lang="de-CH" dirty="0"/>
              <a:t> Discussion</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8" name="Picture 7">
            <a:extLst>
              <a:ext uri="{FF2B5EF4-FFF2-40B4-BE49-F238E27FC236}">
                <a16:creationId xmlns:a16="http://schemas.microsoft.com/office/drawing/2014/main" id="{3E80C31F-C4B2-853C-704F-CDF575DEF945}"/>
              </a:ext>
            </a:extLst>
          </p:cNvPr>
          <p:cNvPicPr>
            <a:picLocks noChangeAspect="1"/>
          </p:cNvPicPr>
          <p:nvPr/>
        </p:nvPicPr>
        <p:blipFill>
          <a:blip r:embed="rId3"/>
          <a:stretch>
            <a:fillRect/>
          </a:stretch>
        </p:blipFill>
        <p:spPr>
          <a:xfrm>
            <a:off x="556326" y="2102191"/>
            <a:ext cx="7325747" cy="838317"/>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Resources for interim-2025-01</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600428" cy="2710200"/>
          </a:xfrm>
          <a:prstGeom prst="rect">
            <a:avLst/>
          </a:prstGeom>
          <a:noFill/>
          <a:ln>
            <a:noFill/>
          </a:ln>
        </p:spPr>
        <p:txBody>
          <a:bodyPr spcFirstLastPara="1" wrap="square" lIns="91400" tIns="91400" rIns="91400" bIns="91400" anchor="t" anchorCtr="0">
            <a:noAutofit/>
          </a:bodyPr>
          <a:lstStyle/>
          <a:p>
            <a:pPr lvl="0">
              <a:lnSpc>
                <a:spcPct val="110000"/>
              </a:lnSpc>
              <a:spcBef>
                <a:spcPts val="300"/>
              </a:spcBef>
              <a:buClr>
                <a:srgbClr val="000000"/>
              </a:buClr>
            </a:pPr>
            <a:r>
              <a:rPr lang="en-US" dirty="0">
                <a:solidFill>
                  <a:srgbClr val="000000"/>
                </a:solidFill>
              </a:rPr>
              <a:t>Agenda</a:t>
            </a:r>
            <a:br>
              <a:rPr lang="en-US" b="1" dirty="0">
                <a:solidFill>
                  <a:srgbClr val="000000"/>
                </a:solidFill>
              </a:rPr>
            </a:br>
            <a:r>
              <a:rPr lang="en-US" u="sng" dirty="0">
                <a:solidFill>
                  <a:schemeClr val="hlink"/>
                </a:solidFill>
              </a:rPr>
              <a:t>https://datatracker.ietf.org/meeting/interim-2025-ippm-01/session/ippm</a:t>
            </a:r>
          </a:p>
          <a:p>
            <a:pPr lvl="0">
              <a:lnSpc>
                <a:spcPct val="110000"/>
              </a:lnSpc>
              <a:spcBef>
                <a:spcPts val="300"/>
              </a:spcBef>
              <a:buClr>
                <a:srgbClr val="000000"/>
              </a:buClr>
            </a:pPr>
            <a:r>
              <a:rPr lang="en-US" dirty="0" err="1">
                <a:solidFill>
                  <a:srgbClr val="000000"/>
                </a:solidFill>
              </a:rPr>
              <a:t>Meetecho</a:t>
            </a:r>
            <a:r>
              <a:rPr lang="en-US" dirty="0">
                <a:solidFill>
                  <a:srgbClr val="000000"/>
                </a:solidFill>
              </a:rPr>
              <a:t> and other information:</a:t>
            </a:r>
            <a:br>
              <a:rPr lang="en-US" dirty="0">
                <a:solidFill>
                  <a:srgbClr val="000000"/>
                </a:solidFill>
              </a:rPr>
            </a:br>
            <a:r>
              <a:rPr lang="en-US" u="sng" dirty="0">
                <a:solidFill>
                  <a:schemeClr val="hlink"/>
                </a:solidFill>
                <a:hlinkClick r:id="rId3"/>
              </a:rPr>
              <a:t>https://www.ietf.org/how/meetings/preparation</a:t>
            </a:r>
            <a:r>
              <a:rPr lang="en-US" dirty="0">
                <a:solidFill>
                  <a:srgbClr val="000000"/>
                </a:solidFill>
              </a:rPr>
              <a:t> </a:t>
            </a:r>
            <a:endParaRPr dirty="0">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dirty="0">
                <a:solidFill>
                  <a:srgbClr val="000000"/>
                </a:solidFill>
              </a:rPr>
              <a:t>If you need technical assistance, see the Reporting Issues page:</a:t>
            </a:r>
            <a:br>
              <a:rPr lang="en-US" dirty="0">
                <a:solidFill>
                  <a:srgbClr val="000000"/>
                </a:solidFill>
              </a:rPr>
            </a:br>
            <a:r>
              <a:rPr lang="en-US" u="sng" dirty="0">
                <a:solidFill>
                  <a:schemeClr val="hlink"/>
                </a:solidFill>
                <a:hlinkClick r:id="rId4"/>
              </a:rPr>
              <a:t>http://www.ietf.org/how/meetings/issues/</a:t>
            </a:r>
            <a:endParaRPr dirty="0">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10</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customXml/itemProps2.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3.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5</TotalTime>
  <Words>1002</Words>
  <Application>Microsoft Office PowerPoint</Application>
  <PresentationFormat>On-screen Show (16:9)</PresentationFormat>
  <Paragraphs>64</Paragraphs>
  <Slides>10</Slides>
  <Notes>10</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10</vt:i4>
      </vt:variant>
    </vt:vector>
  </HeadingPairs>
  <TitlesOfParts>
    <vt:vector size="20" baseType="lpstr">
      <vt:lpstr>Montserrat</vt:lpstr>
      <vt:lpstr>Inter</vt:lpstr>
      <vt:lpstr>Arial</vt:lpstr>
      <vt:lpstr>Open Sans SemiBold</vt:lpstr>
      <vt:lpstr>Open Sans</vt:lpstr>
      <vt:lpstr>Open Sans Medium</vt:lpstr>
      <vt:lpstr>Roboto</vt:lpstr>
      <vt:lpstr>Material</vt:lpstr>
      <vt:lpstr>IETF Template</vt:lpstr>
      <vt:lpstr>1_IETF Template</vt:lpstr>
      <vt:lpstr>BMWG &amp; IPPM interim-2025-01</vt:lpstr>
      <vt:lpstr>Note Well</vt:lpstr>
      <vt:lpstr>IETF interim-2025-01 Meeting Tips</vt:lpstr>
      <vt:lpstr>Joint BMWG and IPPM Meeting</vt:lpstr>
      <vt:lpstr>BMWG charter</vt:lpstr>
      <vt:lpstr>IPPM charter</vt:lpstr>
      <vt:lpstr>Notetaker</vt:lpstr>
      <vt:lpstr>Agenda – Proposed Work</vt:lpstr>
      <vt:lpstr>Joint Chartering Discussion</vt:lpstr>
      <vt:lpstr>Resources for interim-2025-01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Marcus Ihlar</cp:lastModifiedBy>
  <cp:revision>26</cp:revision>
  <dcterms:modified xsi:type="dcterms:W3CDTF">2025-11-18T12:39:33Z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1761727711</vt:lpwstr>
  </property>
</Properties>
</file>