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9"/>
  </p:notesMasterIdLst>
  <p:sldIdLst>
    <p:sldId id="256" r:id="rId7"/>
    <p:sldId id="272" r:id="rId8"/>
    <p:sldId id="259" r:id="rId9"/>
    <p:sldId id="270" r:id="rId10"/>
    <p:sldId id="268" r:id="rId11"/>
    <p:sldId id="267" r:id="rId12"/>
    <p:sldId id="261" r:id="rId13"/>
    <p:sldId id="264" r:id="rId14"/>
    <p:sldId id="271" r:id="rId15"/>
    <p:sldId id="266" r:id="rId16"/>
    <p:sldId id="273" r:id="rId17"/>
    <p:sldId id="260" r:id="rId18"/>
  </p:sldIdLst>
  <p:sldSz cx="9144000" cy="5143500" type="screen16x9"/>
  <p:notesSz cx="6858000" cy="9144000"/>
  <p:embeddedFontLst>
    <p:embeddedFont>
      <p:font typeface="Inter" panose="020B0604020202020204" charset="0"/>
      <p:regular r:id="rId20"/>
      <p:bold r:id="rId21"/>
      <p:italic r:id="rId22"/>
      <p:boldItalic r:id="rId23"/>
    </p:embeddedFont>
    <p:embeddedFont>
      <p:font typeface="Montserrat" panose="00000500000000000000" pitchFamily="2" charset="0"/>
      <p:regular r:id="rId24"/>
      <p:bold r:id="rId25"/>
      <p:italic r:id="rId26"/>
      <p:boldItalic r:id="rId27"/>
    </p:embeddedFont>
    <p:embeddedFont>
      <p:font typeface="Open Sans" panose="020B0606030504020204" pitchFamily="34" charset="0"/>
      <p:regular r:id="rId28"/>
      <p:bold r:id="rId29"/>
      <p:italic r:id="rId30"/>
      <p:boldItalic r:id="rId31"/>
    </p:embeddedFont>
    <p:embeddedFont>
      <p:font typeface="Open Sans Medium" panose="020B0604020202020204" charset="0"/>
      <p:regular r:id="rId32"/>
      <p:bold r:id="rId33"/>
      <p:italic r:id="rId34"/>
      <p:boldItalic r:id="rId35"/>
    </p:embeddedFont>
    <p:embeddedFont>
      <p:font typeface="Open Sans SemiBold" panose="020B0706030804020204" pitchFamily="34" charset="0"/>
      <p:bold r:id="rId36"/>
      <p:boldItalic r:id="rId37"/>
    </p:embeddedFont>
    <p:embeddedFont>
      <p:font typeface="Roboto" panose="02000000000000000000" pitchFamily="2" charset="0"/>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859C06-2014-4A3D-B5EE-7F03E77ED81E}" v="8" dt="2025-11-18T12:14:55.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0" d="100"/>
          <a:sy n="130" d="100"/>
        </p:scale>
        <p:origin x="82" y="134"/>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7.fntdata"/><Relationship Id="rId39" Type="http://schemas.openxmlformats.org/officeDocument/2006/relationships/font" Target="fonts/font20.fntdata"/><Relationship Id="rId21" Type="http://schemas.openxmlformats.org/officeDocument/2006/relationships/font" Target="fonts/font2.fntdata"/><Relationship Id="rId34" Type="http://schemas.openxmlformats.org/officeDocument/2006/relationships/font" Target="fonts/font15.fntdata"/><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font" Target="fonts/font10.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font" Target="fonts/font18.fntdata"/><Relationship Id="rId40" Type="http://schemas.openxmlformats.org/officeDocument/2006/relationships/font" Target="fonts/font21.fntdata"/><Relationship Id="rId45"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font" Target="fonts/font17.fntdata"/><Relationship Id="rId10" Type="http://schemas.openxmlformats.org/officeDocument/2006/relationships/slide" Target="slides/slide4.xml"/><Relationship Id="rId19" Type="http://schemas.openxmlformats.org/officeDocument/2006/relationships/notesMaster" Target="notesMasters/notesMaster1.xml"/><Relationship Id="rId31" Type="http://schemas.openxmlformats.org/officeDocument/2006/relationships/font" Target="fonts/font12.fntdata"/><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43" Type="http://schemas.openxmlformats.org/officeDocument/2006/relationships/viewProps" Target="viewProps.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font" Target="fonts/font19.fntdata"/><Relationship Id="rId46" Type="http://schemas.microsoft.com/office/2016/11/relationships/changesInfo" Target="changesInfos/changesInfo1.xml"/><Relationship Id="rId20" Type="http://schemas.openxmlformats.org/officeDocument/2006/relationships/font" Target="fonts/font1.fntdata"/><Relationship Id="rId41" Type="http://schemas.openxmlformats.org/officeDocument/2006/relationships/font" Target="fonts/font2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EF859C06-2014-4A3D-B5EE-7F03E77ED81E}"/>
    <pc:docChg chg="custSel modSld">
      <pc:chgData name="Graf Thomas, SCS-INI-NET-VNC-E2E" userId="487bc3e3-9ce7-4cdd-b7b4-8899ea88d289" providerId="ADAL" clId="{EF859C06-2014-4A3D-B5EE-7F03E77ED81E}" dt="2025-11-19T08:35:18.468" v="7" actId="1076"/>
      <pc:docMkLst>
        <pc:docMk/>
      </pc:docMkLst>
      <pc:sldChg chg="addSp delSp modSp mod">
        <pc:chgData name="Graf Thomas, SCS-INI-NET-VNC-E2E" userId="487bc3e3-9ce7-4cdd-b7b4-8899ea88d289" providerId="ADAL" clId="{EF859C06-2014-4A3D-B5EE-7F03E77ED81E}" dt="2025-11-19T08:35:01.985" v="4" actId="1076"/>
        <pc:sldMkLst>
          <pc:docMk/>
          <pc:sldMk cId="703495152" sldId="264"/>
        </pc:sldMkLst>
        <pc:picChg chg="add mod">
          <ac:chgData name="Graf Thomas, SCS-INI-NET-VNC-E2E" userId="487bc3e3-9ce7-4cdd-b7b4-8899ea88d289" providerId="ADAL" clId="{EF859C06-2014-4A3D-B5EE-7F03E77ED81E}" dt="2025-11-19T08:35:01.985" v="4" actId="1076"/>
          <ac:picMkLst>
            <pc:docMk/>
            <pc:sldMk cId="703495152" sldId="264"/>
            <ac:picMk id="5" creationId="{7322EFFC-85B1-3D16-4EA1-12868D6A22B5}"/>
          </ac:picMkLst>
        </pc:picChg>
        <pc:picChg chg="del">
          <ac:chgData name="Graf Thomas, SCS-INI-NET-VNC-E2E" userId="487bc3e3-9ce7-4cdd-b7b4-8899ea88d289" providerId="ADAL" clId="{EF859C06-2014-4A3D-B5EE-7F03E77ED81E}" dt="2025-11-19T08:34:56.457" v="0" actId="478"/>
          <ac:picMkLst>
            <pc:docMk/>
            <pc:sldMk cId="703495152" sldId="264"/>
            <ac:picMk id="7" creationId="{8249488F-129E-0F6F-19AF-B00E317A45AF}"/>
          </ac:picMkLst>
        </pc:picChg>
      </pc:sldChg>
      <pc:sldChg chg="addSp delSp modSp mod">
        <pc:chgData name="Graf Thomas, SCS-INI-NET-VNC-E2E" userId="487bc3e3-9ce7-4cdd-b7b4-8899ea88d289" providerId="ADAL" clId="{EF859C06-2014-4A3D-B5EE-7F03E77ED81E}" dt="2025-11-19T08:35:18.468" v="7" actId="1076"/>
        <pc:sldMkLst>
          <pc:docMk/>
          <pc:sldMk cId="1859012803" sldId="271"/>
        </pc:sldMkLst>
        <pc:picChg chg="add mod">
          <ac:chgData name="Graf Thomas, SCS-INI-NET-VNC-E2E" userId="487bc3e3-9ce7-4cdd-b7b4-8899ea88d289" providerId="ADAL" clId="{EF859C06-2014-4A3D-B5EE-7F03E77ED81E}" dt="2025-11-19T08:35:18.468" v="7" actId="1076"/>
          <ac:picMkLst>
            <pc:docMk/>
            <pc:sldMk cId="1859012803" sldId="271"/>
            <ac:picMk id="5" creationId="{83C9D532-04E5-151D-138D-346CD68EA7AA}"/>
          </ac:picMkLst>
        </pc:picChg>
        <pc:picChg chg="del">
          <ac:chgData name="Graf Thomas, SCS-INI-NET-VNC-E2E" userId="487bc3e3-9ce7-4cdd-b7b4-8899ea88d289" providerId="ADAL" clId="{EF859C06-2014-4A3D-B5EE-7F03E77ED81E}" dt="2025-11-19T08:35:15.939" v="5" actId="478"/>
          <ac:picMkLst>
            <pc:docMk/>
            <pc:sldMk cId="1859012803" sldId="271"/>
            <ac:picMk id="8" creationId="{3E80C31F-C4B2-853C-704F-CDF575DEF94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9754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interim-2025-ippm-01-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datatracker.ietf.org/doc/html/draft-ietf-ippm-asymmetrical-pkts" TargetMode="External"/><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html/draft-ietf-ippm-capacity-protoco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datatracker.ietf.org/doc/draft-ietf-bmwg-powerbench/" TargetMode="External"/><Relationship Id="rId11" Type="http://schemas.openxmlformats.org/officeDocument/2006/relationships/hyperlink" Target="https://datatracker.ietf.org/doc/html/draft-iuzh-ippm-ioam-integrity-yang" TargetMode="External"/><Relationship Id="rId5" Type="http://schemas.openxmlformats.org/officeDocument/2006/relationships/hyperlink" Target="https://datatracker.ietf.org/doc/draft-ietf-bmwg-sr-bench-meth/" TargetMode="External"/><Relationship Id="rId10" Type="http://schemas.openxmlformats.org/officeDocument/2006/relationships/hyperlink" Target="https://datatracker.ietf.org/doc/html/draft-ietf-ippm-qoo" TargetMode="External"/><Relationship Id="rId4" Type="http://schemas.openxmlformats.org/officeDocument/2006/relationships/hyperlink" Target="https://datatracker.ietf.org/doc/draft-ietf-bmwg-network-tester-cfg/" TargetMode="External"/><Relationship Id="rId9" Type="http://schemas.openxmlformats.org/officeDocument/2006/relationships/hyperlink" Target="https://datatracker.ietf.org/doc/html/draft-ietf-ippm-hybrid-two-step"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ietf.org/how/meetings/preparation"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www.ietf.org/how/meetings/iss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lvl="0"/>
            <a:r>
              <a:rPr lang="en-US" sz="3600" dirty="0">
                <a:latin typeface="Inter"/>
                <a:ea typeface="Inter"/>
                <a:cs typeface="Inter"/>
                <a:sym typeface="Inter"/>
              </a:rPr>
              <a:t>BMWG &amp; IPPM</a:t>
            </a:r>
            <a:r>
              <a:rPr lang="en-US" sz="3600" dirty="0"/>
              <a:t> interim-2025-01</a:t>
            </a:r>
            <a:endParaRPr lang="en-US"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20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IETF interim-2025-01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3</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a:t>
            </a:r>
            <a:r>
              <a:rPr lang="en-001" sz="1500" dirty="0"/>
              <a:t>.</a:t>
            </a:r>
          </a:p>
          <a:p>
            <a:endParaRPr lang="en-001" sz="1500" dirty="0"/>
          </a:p>
          <a:p>
            <a:r>
              <a:rPr lang="en-US" sz="1500" dirty="0"/>
              <a:t>Qin </a:t>
            </a:r>
            <a:r>
              <a:rPr lang="en-001" sz="1500" dirty="0"/>
              <a:t>presented the rationale for joint chartering at IETF 124</a:t>
            </a:r>
            <a:r>
              <a:rPr lang="en-US" sz="1500" dirty="0"/>
              <a:t>.</a:t>
            </a:r>
            <a:r>
              <a:rPr lang="en-001" sz="1500" dirty="0"/>
              <a:t> Since then we have collected feedback from participants of both working groups.</a:t>
            </a:r>
            <a:endParaRPr lang="en-US" sz="1500" dirty="0"/>
          </a:p>
          <a:p>
            <a:pPr>
              <a:spcBef>
                <a:spcPts val="1200"/>
              </a:spcBef>
            </a:pPr>
            <a:r>
              <a:rPr lang="en-001" sz="1500" dirty="0"/>
              <a:t>At the end of this meeting Qin will present the current status of the ongoing discussions.</a:t>
            </a:r>
            <a:endParaRPr lang="en-US" sz="1500"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https://notes.ietf.org/notes-ietf-interim-2025-ippm-01-ippm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8" name="Picture 7">
            <a:extLst>
              <a:ext uri="{FF2B5EF4-FFF2-40B4-BE49-F238E27FC236}">
                <a16:creationId xmlns:a16="http://schemas.microsoft.com/office/drawing/2014/main" id="{502884C6-9465-4AEB-9BC2-CD78EACC725D}"/>
              </a:ext>
            </a:extLst>
          </p:cNvPr>
          <p:cNvPicPr>
            <a:picLocks noChangeAspect="1"/>
          </p:cNvPicPr>
          <p:nvPr/>
        </p:nvPicPr>
        <p:blipFill>
          <a:blip r:embed="rId3"/>
          <a:stretch>
            <a:fillRect/>
          </a:stretch>
        </p:blipFill>
        <p:spPr>
          <a:xfrm>
            <a:off x="312000" y="1769325"/>
            <a:ext cx="7653832" cy="3032852"/>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8" name="Picture 7">
            <a:extLst>
              <a:ext uri="{FF2B5EF4-FFF2-40B4-BE49-F238E27FC236}">
                <a16:creationId xmlns:a16="http://schemas.microsoft.com/office/drawing/2014/main" id="{D47465AF-3406-405A-9580-5FCC4F76BFC0}"/>
              </a:ext>
            </a:extLst>
          </p:cNvPr>
          <p:cNvPicPr>
            <a:picLocks noChangeAspect="1"/>
          </p:cNvPicPr>
          <p:nvPr/>
        </p:nvPicPr>
        <p:blipFill>
          <a:blip r:embed="rId3"/>
          <a:stretch>
            <a:fillRect/>
          </a:stretch>
        </p:blipFill>
        <p:spPr>
          <a:xfrm>
            <a:off x="322384" y="1850057"/>
            <a:ext cx="8141677" cy="638010"/>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and IPPM Document Updates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301916" y="1851076"/>
            <a:ext cx="4197503" cy="2802986"/>
          </a:xfrm>
        </p:spPr>
        <p:txBody>
          <a:bodyPr/>
          <a:lstStyle/>
          <a:p>
            <a:pPr marL="114300" indent="0">
              <a:buNone/>
            </a:pPr>
            <a:r>
              <a:rPr lang="de-CH" sz="1600" b="1" dirty="0"/>
              <a:t>BMWG</a:t>
            </a:r>
            <a:endParaRPr lang="de-CH" sz="1600" b="1" dirty="0">
              <a:hlinkClick r:id="rId3"/>
            </a:endParaRPr>
          </a:p>
          <a:p>
            <a:r>
              <a:rPr lang="de-CH" sz="1200" b="1" dirty="0">
                <a:hlinkClick r:id="rId3"/>
              </a:rPr>
              <a:t>draft-ietf-bmwg-mlrsearch</a:t>
            </a:r>
            <a:r>
              <a:rPr lang="de-CH" sz="1200" b="1" dirty="0"/>
              <a:t> </a:t>
            </a:r>
            <a:r>
              <a:rPr lang="en-US" sz="1200" dirty="0"/>
              <a:t>submitted to IESG for publication.</a:t>
            </a:r>
          </a:p>
          <a:p>
            <a:r>
              <a:rPr lang="de-CH" sz="1200" b="1" dirty="0">
                <a:hlinkClick r:id="rId4"/>
              </a:rPr>
              <a:t>draft-ietf-bmwg-network-tester-cfg</a:t>
            </a:r>
            <a:r>
              <a:rPr lang="de-CH" sz="1200" dirty="0"/>
              <a:t> passed WGLC but a new revision is needed to address the Yangdoctors review.</a:t>
            </a:r>
          </a:p>
          <a:p>
            <a:r>
              <a:rPr lang="de-CH" sz="1200" b="1" dirty="0">
                <a:hlinkClick r:id="rId5"/>
              </a:rPr>
              <a:t>draft-ietf-bmwg-sr-bench-meth</a:t>
            </a:r>
            <a:r>
              <a:rPr lang="de-CH" sz="1200" b="1" dirty="0"/>
              <a:t> </a:t>
            </a:r>
            <a:r>
              <a:rPr lang="de-CH" sz="1200" dirty="0"/>
              <a:t>preparing for the WGLC.</a:t>
            </a:r>
          </a:p>
          <a:p>
            <a:r>
              <a:rPr lang="de-CH" sz="1200" b="1" dirty="0">
                <a:hlinkClick r:id="rId6"/>
              </a:rPr>
              <a:t>draft-ietf-bmwg-powerbench</a:t>
            </a:r>
            <a:r>
              <a:rPr lang="de-CH" sz="1200" b="1" dirty="0"/>
              <a:t> </a:t>
            </a:r>
            <a:r>
              <a:rPr lang="de-CH" sz="1200" dirty="0"/>
              <a:t>just adopted.</a:t>
            </a:r>
          </a:p>
          <a:p>
            <a:r>
              <a:rPr lang="de-CH" sz="1200" dirty="0"/>
              <a:t>Resumed the discussion for revisiting BMWG RFCs in order to update RFC 2544.</a:t>
            </a:r>
          </a:p>
        </p:txBody>
      </p:sp>
      <p:sp>
        <p:nvSpPr>
          <p:cNvPr id="7" name="Text Placeholder 2">
            <a:extLst>
              <a:ext uri="{FF2B5EF4-FFF2-40B4-BE49-F238E27FC236}">
                <a16:creationId xmlns:a16="http://schemas.microsoft.com/office/drawing/2014/main" id="{C14FDDA7-186A-40C6-8EC3-6D66D9D98819}"/>
              </a:ext>
            </a:extLst>
          </p:cNvPr>
          <p:cNvSpPr txBox="1">
            <a:spLocks/>
          </p:cNvSpPr>
          <p:nvPr/>
        </p:nvSpPr>
        <p:spPr>
          <a:xfrm>
            <a:off x="4499419" y="1851077"/>
            <a:ext cx="4197503" cy="2802986"/>
          </a:xfrm>
          <a:prstGeom prst="rect">
            <a:avLst/>
          </a:prstGeom>
          <a:noFill/>
          <a:ln>
            <a:noFill/>
          </a:ln>
        </p:spPr>
        <p:txBody>
          <a:bodyPr spcFirstLastPara="1" wrap="square" lIns="91400" tIns="91400" rIns="91400" bIns="91400"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9pPr>
          </a:lstStyle>
          <a:p>
            <a:pPr marL="114300" indent="0">
              <a:buFont typeface="Inter"/>
              <a:buNone/>
            </a:pPr>
            <a:r>
              <a:rPr lang="de-CH" sz="1600" b="1" dirty="0"/>
              <a:t>IPPM</a:t>
            </a:r>
            <a:endParaRPr lang="de-CH" sz="1600" b="1" dirty="0">
              <a:hlinkClick r:id="rId3"/>
            </a:endParaRPr>
          </a:p>
          <a:p>
            <a:r>
              <a:rPr lang="en-US" sz="1200" b="1" dirty="0">
                <a:hlinkClick r:id="rId7"/>
              </a:rPr>
              <a:t>draft-</a:t>
            </a:r>
            <a:r>
              <a:rPr lang="en-US" sz="1200" b="1" dirty="0" err="1">
                <a:hlinkClick r:id="rId7"/>
              </a:rPr>
              <a:t>ietf</a:t>
            </a:r>
            <a:r>
              <a:rPr lang="en-US" sz="1200" b="1" dirty="0">
                <a:hlinkClick r:id="rId7"/>
              </a:rPr>
              <a:t>-ippm-capacity-protocol</a:t>
            </a:r>
            <a:r>
              <a:rPr lang="en-US" sz="1200" b="1" dirty="0"/>
              <a:t> </a:t>
            </a:r>
            <a:r>
              <a:rPr lang="en-US" sz="1200" dirty="0"/>
              <a:t>approved by IESG.</a:t>
            </a:r>
          </a:p>
          <a:p>
            <a:r>
              <a:rPr lang="en-US" sz="1200" b="1" dirty="0">
                <a:hlinkClick r:id="rId8"/>
              </a:rPr>
              <a:t>draft-</a:t>
            </a:r>
            <a:r>
              <a:rPr lang="en-US" sz="1200" b="1" dirty="0" err="1">
                <a:hlinkClick r:id="rId8"/>
              </a:rPr>
              <a:t>ietf</a:t>
            </a:r>
            <a:r>
              <a:rPr lang="en-US" sz="1200" b="1" dirty="0">
                <a:hlinkClick r:id="rId8"/>
              </a:rPr>
              <a:t>-ippm-asymmetrical-pkts</a:t>
            </a:r>
            <a:r>
              <a:rPr lang="en-US" sz="1200" b="1" dirty="0"/>
              <a:t> </a:t>
            </a:r>
            <a:r>
              <a:rPr lang="en-US" sz="1200" dirty="0"/>
              <a:t>and</a:t>
            </a:r>
            <a:r>
              <a:rPr lang="en-US" sz="1200" b="1" dirty="0"/>
              <a:t> </a:t>
            </a:r>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has been passed on to IESG.</a:t>
            </a:r>
          </a:p>
          <a:p>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received OPS AD review.</a:t>
            </a:r>
          </a:p>
          <a:p>
            <a:r>
              <a:rPr lang="en-US" sz="1200" b="1" dirty="0">
                <a:hlinkClick r:id="rId10"/>
              </a:rPr>
              <a:t>draft-</a:t>
            </a:r>
            <a:r>
              <a:rPr lang="en-US" sz="1200" b="1" dirty="0" err="1">
                <a:hlinkClick r:id="rId10"/>
              </a:rPr>
              <a:t>ietf</a:t>
            </a:r>
            <a:r>
              <a:rPr lang="en-US" sz="1200" b="1" dirty="0">
                <a:hlinkClick r:id="rId10"/>
              </a:rPr>
              <a:t>-ippm-</a:t>
            </a:r>
            <a:r>
              <a:rPr lang="en-US" sz="1200" b="1" dirty="0" err="1">
                <a:hlinkClick r:id="rId10"/>
              </a:rPr>
              <a:t>qoo</a:t>
            </a:r>
            <a:r>
              <a:rPr lang="en-US" sz="1200" b="1" dirty="0"/>
              <a:t> </a:t>
            </a:r>
            <a:r>
              <a:rPr lang="en-US" sz="1200" dirty="0"/>
              <a:t>publication request.</a:t>
            </a:r>
          </a:p>
          <a:p>
            <a:r>
              <a:rPr lang="en-US" sz="1200" b="1" dirty="0">
                <a:hlinkClick r:id="rId11"/>
              </a:rPr>
              <a:t>draft-</a:t>
            </a:r>
            <a:r>
              <a:rPr lang="en-US" sz="1200" b="1" dirty="0" err="1">
                <a:hlinkClick r:id="rId11"/>
              </a:rPr>
              <a:t>iuzh</a:t>
            </a:r>
            <a:r>
              <a:rPr lang="en-US" sz="1200" b="1" dirty="0">
                <a:hlinkClick r:id="rId11"/>
              </a:rPr>
              <a:t>-ippm-</a:t>
            </a:r>
            <a:r>
              <a:rPr lang="en-US" sz="1200" b="1" dirty="0" err="1">
                <a:hlinkClick r:id="rId11"/>
              </a:rPr>
              <a:t>ioam</a:t>
            </a:r>
            <a:r>
              <a:rPr lang="en-US" sz="1200" b="1" dirty="0">
                <a:hlinkClick r:id="rId11"/>
              </a:rPr>
              <a:t>-integrity-yang</a:t>
            </a:r>
            <a:r>
              <a:rPr lang="en-US" sz="1200" dirty="0"/>
              <a:t> adoption call is currently running.</a:t>
            </a:r>
          </a:p>
        </p:txBody>
      </p:sp>
    </p:spTree>
    <p:extLst>
      <p:ext uri="{BB962C8B-B14F-4D97-AF65-F5344CB8AC3E}">
        <p14:creationId xmlns:p14="http://schemas.microsoft.com/office/powerpoint/2010/main" val="137274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Liaisons Updates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301916" y="1851076"/>
            <a:ext cx="8392084" cy="2802986"/>
          </a:xfrm>
          <a:noFill/>
          <a:ln>
            <a:noFill/>
          </a:ln>
        </p:spPr>
        <p:txBody>
          <a:bodyPr spcFirstLastPara="1" wrap="square" lIns="91400" tIns="91400" rIns="91400" bIns="91400" anchor="t" anchorCtr="0">
            <a:noAutofit/>
          </a:bodyPr>
          <a:lstStyle/>
          <a:p>
            <a:pPr>
              <a:lnSpc>
                <a:spcPct val="100000"/>
              </a:lnSpc>
            </a:pPr>
            <a:r>
              <a:rPr lang="en-US" sz="1500" dirty="0"/>
              <a:t>LS out to ITU-T SG11 for SR Benchmark – Waiting of the Liaison Manager to post the LS</a:t>
            </a:r>
          </a:p>
          <a:p>
            <a:pPr>
              <a:lnSpc>
                <a:spcPct val="100000"/>
              </a:lnSpc>
            </a:pPr>
            <a:endParaRPr lang="en-US" sz="1500" dirty="0"/>
          </a:p>
          <a:p>
            <a:pPr>
              <a:lnSpc>
                <a:spcPct val="100000"/>
              </a:lnSpc>
            </a:pPr>
            <a:r>
              <a:rPr lang="en-US" sz="1500" dirty="0"/>
              <a:t>LS out to BBF for Quality of Outcome (</a:t>
            </a:r>
            <a:r>
              <a:rPr lang="en-US" sz="1500" dirty="0" err="1"/>
              <a:t>QoO</a:t>
            </a:r>
            <a:r>
              <a:rPr lang="en-US" sz="1500" dirty="0"/>
              <a:t>) – Sent</a:t>
            </a:r>
          </a:p>
          <a:p>
            <a:pPr>
              <a:lnSpc>
                <a:spcPct val="100000"/>
              </a:lnSpc>
            </a:pPr>
            <a:endParaRPr lang="en-US" sz="1500" dirty="0"/>
          </a:p>
          <a:p>
            <a:pPr>
              <a:lnSpc>
                <a:spcPct val="100000"/>
              </a:lnSpc>
            </a:pPr>
            <a:r>
              <a:rPr lang="en-US" sz="1500" dirty="0"/>
              <a:t>LS out to ITU-T SG12 once </a:t>
            </a:r>
            <a:r>
              <a:rPr lang="en-US" sz="1500" dirty="0" err="1"/>
              <a:t>QoO</a:t>
            </a:r>
            <a:r>
              <a:rPr lang="en-US" sz="1500" dirty="0"/>
              <a:t> is published – Planned </a:t>
            </a:r>
          </a:p>
          <a:p>
            <a:pPr lvl="1">
              <a:lnSpc>
                <a:spcPct val="100000"/>
              </a:lnSpc>
            </a:pPr>
            <a:r>
              <a:rPr lang="en-US" sz="1400" dirty="0"/>
              <a:t>Also, thank Ruediger for socializing the work there and collecting early feedback.</a:t>
            </a:r>
            <a:endParaRPr lang="de-CH" sz="1400" dirty="0"/>
          </a:p>
          <a:p>
            <a:pPr>
              <a:lnSpc>
                <a:spcPct val="100000"/>
              </a:lnSpc>
            </a:pPr>
            <a:endParaRPr lang="en-US" sz="1500" dirty="0"/>
          </a:p>
        </p:txBody>
      </p:sp>
    </p:spTree>
    <p:extLst>
      <p:ext uri="{BB962C8B-B14F-4D97-AF65-F5344CB8AC3E}">
        <p14:creationId xmlns:p14="http://schemas.microsoft.com/office/powerpoint/2010/main" val="3896908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Resources for interim-2025-01</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600428" cy="2710200"/>
          </a:xfrm>
          <a:prstGeom prst="rect">
            <a:avLst/>
          </a:prstGeom>
          <a:noFill/>
          <a:ln>
            <a:noFill/>
          </a:ln>
        </p:spPr>
        <p:txBody>
          <a:bodyPr spcFirstLastPara="1" wrap="square" lIns="91400" tIns="91400" rIns="91400" bIns="91400" anchor="t" anchorCtr="0">
            <a:noAutofit/>
          </a:bodyPr>
          <a:lstStyle/>
          <a:p>
            <a:pPr lvl="0">
              <a:lnSpc>
                <a:spcPct val="110000"/>
              </a:lnSpc>
              <a:spcBef>
                <a:spcPts val="300"/>
              </a:spcBef>
              <a:buClr>
                <a:srgbClr val="000000"/>
              </a:buClr>
            </a:pPr>
            <a:r>
              <a:rPr lang="en-US" dirty="0">
                <a:solidFill>
                  <a:srgbClr val="000000"/>
                </a:solidFill>
              </a:rPr>
              <a:t>Agenda</a:t>
            </a:r>
            <a:br>
              <a:rPr lang="en-US" b="1" dirty="0">
                <a:solidFill>
                  <a:srgbClr val="000000"/>
                </a:solidFill>
              </a:rPr>
            </a:br>
            <a:r>
              <a:rPr lang="en-US" u="sng" dirty="0">
                <a:solidFill>
                  <a:schemeClr val="hlink"/>
                </a:solidFill>
              </a:rPr>
              <a:t>https://datatracker.ietf.org/meeting/interim-2025-ippm-01/session/ippm</a:t>
            </a:r>
          </a:p>
          <a:p>
            <a:pPr lvl="0">
              <a:lnSpc>
                <a:spcPct val="110000"/>
              </a:lnSpc>
              <a:spcBef>
                <a:spcPts val="300"/>
              </a:spcBef>
              <a:buClr>
                <a:srgbClr val="000000"/>
              </a:buClr>
            </a:pPr>
            <a:r>
              <a:rPr lang="en-US" dirty="0" err="1">
                <a:solidFill>
                  <a:srgbClr val="000000"/>
                </a:solidFill>
              </a:rPr>
              <a:t>Meetecho</a:t>
            </a:r>
            <a:r>
              <a:rPr lang="en-US" dirty="0">
                <a:solidFill>
                  <a:srgbClr val="000000"/>
                </a:solidFill>
              </a:rPr>
              <a:t> and other information:</a:t>
            </a:r>
            <a:br>
              <a:rPr lang="en-US" dirty="0">
                <a:solidFill>
                  <a:srgbClr val="000000"/>
                </a:solidFill>
              </a:rPr>
            </a:br>
            <a:r>
              <a:rPr lang="en-US" u="sng" dirty="0">
                <a:solidFill>
                  <a:schemeClr val="hlink"/>
                </a:solidFill>
                <a:hlinkClick r:id="rId3"/>
              </a:rPr>
              <a:t>https://www.ietf.org/how/meetings/preparation</a:t>
            </a:r>
            <a:r>
              <a:rPr lang="en-US" dirty="0">
                <a:solidFill>
                  <a:srgbClr val="000000"/>
                </a:solidFill>
              </a:rPr>
              <a:t> </a:t>
            </a:r>
            <a:endParaRPr dirty="0">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dirty="0">
                <a:solidFill>
                  <a:srgbClr val="000000"/>
                </a:solidFill>
              </a:rPr>
              <a:t>If you need technical assistance, see the Reporting Issues page:</a:t>
            </a:r>
            <a:br>
              <a:rPr lang="en-US" dirty="0">
                <a:solidFill>
                  <a:srgbClr val="000000"/>
                </a:solidFill>
              </a:rPr>
            </a:br>
            <a:r>
              <a:rPr lang="en-US" u="sng" dirty="0">
                <a:solidFill>
                  <a:schemeClr val="hlink"/>
                </a:solidFill>
                <a:hlinkClick r:id="rId4"/>
              </a:rPr>
              <a:t>http://www.ietf.org/how/meetings/issues/</a:t>
            </a:r>
            <a:endParaRPr dirty="0">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12</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3.xml><?xml version="1.0" encoding="utf-8"?>
<ds:datastoreItem xmlns:ds="http://schemas.openxmlformats.org/officeDocument/2006/customXml" ds:itemID="{9104BBC9-6B71-4DC1-A0E0-1E198363AC7F}">
  <ds:schemaRefs>
    <ds:schemaRef ds:uri="http://schemas.microsoft.com/sharepoint/v3/contenttype/forms"/>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20</TotalTime>
  <Words>1147</Words>
  <Application>Microsoft Office PowerPoint</Application>
  <PresentationFormat>On-screen Show (16:9)</PresentationFormat>
  <Paragraphs>86</Paragraphs>
  <Slides>12</Slides>
  <Notes>12</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12</vt:i4>
      </vt:variant>
    </vt:vector>
  </HeadingPairs>
  <TitlesOfParts>
    <vt:vector size="22" baseType="lpstr">
      <vt:lpstr>Montserrat</vt:lpstr>
      <vt:lpstr>Arial</vt:lpstr>
      <vt:lpstr>Open Sans Medium</vt:lpstr>
      <vt:lpstr>Open Sans</vt:lpstr>
      <vt:lpstr>Roboto</vt:lpstr>
      <vt:lpstr>Inter</vt:lpstr>
      <vt:lpstr>Open Sans SemiBold</vt:lpstr>
      <vt:lpstr>Material</vt:lpstr>
      <vt:lpstr>IETF Template</vt:lpstr>
      <vt:lpstr>1_IETF Template</vt:lpstr>
      <vt:lpstr>BMWG &amp; IPPM interim-2025-01</vt:lpstr>
      <vt:lpstr>Note Well</vt:lpstr>
      <vt:lpstr>IETF interim-2025-01 Meeting Tips</vt:lpstr>
      <vt:lpstr>Joint BMWG and IPPM Meeting</vt:lpstr>
      <vt:lpstr>BMWG charter</vt:lpstr>
      <vt:lpstr>IPPM charter</vt:lpstr>
      <vt:lpstr>Notetaker</vt:lpstr>
      <vt:lpstr>Agenda – Proposed Work</vt:lpstr>
      <vt:lpstr>Joint Chartering Discussion</vt:lpstr>
      <vt:lpstr>BMWG and IPPM Document Updates</vt:lpstr>
      <vt:lpstr>Liaisons Updates</vt:lpstr>
      <vt:lpstr>Resources for interim-2025-01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Giuseppe Fioccola</cp:lastModifiedBy>
  <cp:revision>35</cp:revision>
  <dcterms:modified xsi:type="dcterms:W3CDTF">2025-11-19T16:05:52Z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1763567123</vt:lpwstr>
  </property>
</Properties>
</file>