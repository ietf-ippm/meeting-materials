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4"/>
    <p:sldMasterId id="2147483665" r:id="rId5"/>
    <p:sldMasterId id="2147483666" r:id="rId6"/>
  </p:sldMasterIdLst>
  <p:notesMasterIdLst>
    <p:notesMasterId r:id="rId18"/>
  </p:notesMasterIdLst>
  <p:sldIdLst>
    <p:sldId id="256" r:id="rId7"/>
    <p:sldId id="272" r:id="rId8"/>
    <p:sldId id="259" r:id="rId9"/>
    <p:sldId id="270" r:id="rId10"/>
    <p:sldId id="268" r:id="rId11"/>
    <p:sldId id="267" r:id="rId12"/>
    <p:sldId id="261" r:id="rId13"/>
    <p:sldId id="264" r:id="rId14"/>
    <p:sldId id="271" r:id="rId15"/>
    <p:sldId id="266" r:id="rId16"/>
    <p:sldId id="260" r:id="rId17"/>
  </p:sldIdLst>
  <p:sldSz cx="9144000" cy="5143500" type="screen16x9"/>
  <p:notesSz cx="6858000" cy="9144000"/>
  <p:embeddedFontLst>
    <p:embeddedFont>
      <p:font typeface="Inter" panose="020B060402020202020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Open Sans" panose="020B0606030504020204" pitchFamily="34" charset="0"/>
      <p:regular r:id="rId27"/>
      <p:bold r:id="rId28"/>
      <p:italic r:id="rId29"/>
      <p:boldItalic r:id="rId30"/>
    </p:embeddedFont>
    <p:embeddedFont>
      <p:font typeface="Open Sans Medium" panose="020B0604020202020204" charset="0"/>
      <p:regular r:id="rId31"/>
      <p:bold r:id="rId32"/>
      <p:italic r:id="rId33"/>
      <p:boldItalic r:id="rId34"/>
    </p:embeddedFont>
    <p:embeddedFont>
      <p:font typeface="Open Sans SemiBold" panose="020B0706030804020204" pitchFamily="34" charset="0"/>
      <p:bold r:id="rId35"/>
      <p:boldItalic r:id="rId36"/>
    </p:embeddedFont>
    <p:embeddedFont>
      <p:font typeface="Roboto"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859C06-2014-4A3D-B5EE-7F03E77ED81E}" v="8" dt="2025-11-18T12:14:55.0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12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3" Type="http://schemas.openxmlformats.org/officeDocument/2006/relationships/customXml" Target="../customXml/item3.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4.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EF859C06-2014-4A3D-B5EE-7F03E77ED81E}"/>
    <pc:docChg chg="custSel modSld">
      <pc:chgData name="Graf Thomas, SCS-INI-NET-VNC-E2E" userId="487bc3e3-9ce7-4cdd-b7b4-8899ea88d289" providerId="ADAL" clId="{EF859C06-2014-4A3D-B5EE-7F03E77ED81E}" dt="2025-11-19T08:35:18.468" v="7" actId="1076"/>
      <pc:docMkLst>
        <pc:docMk/>
      </pc:docMkLst>
      <pc:sldChg chg="addSp delSp modSp mod">
        <pc:chgData name="Graf Thomas, SCS-INI-NET-VNC-E2E" userId="487bc3e3-9ce7-4cdd-b7b4-8899ea88d289" providerId="ADAL" clId="{EF859C06-2014-4A3D-B5EE-7F03E77ED81E}" dt="2025-11-19T08:35:01.985" v="4" actId="1076"/>
        <pc:sldMkLst>
          <pc:docMk/>
          <pc:sldMk cId="703495152" sldId="264"/>
        </pc:sldMkLst>
        <pc:picChg chg="add mod">
          <ac:chgData name="Graf Thomas, SCS-INI-NET-VNC-E2E" userId="487bc3e3-9ce7-4cdd-b7b4-8899ea88d289" providerId="ADAL" clId="{EF859C06-2014-4A3D-B5EE-7F03E77ED81E}" dt="2025-11-19T08:35:01.985" v="4" actId="1076"/>
          <ac:picMkLst>
            <pc:docMk/>
            <pc:sldMk cId="703495152" sldId="264"/>
            <ac:picMk id="5" creationId="{7322EFFC-85B1-3D16-4EA1-12868D6A22B5}"/>
          </ac:picMkLst>
        </pc:picChg>
        <pc:picChg chg="del">
          <ac:chgData name="Graf Thomas, SCS-INI-NET-VNC-E2E" userId="487bc3e3-9ce7-4cdd-b7b4-8899ea88d289" providerId="ADAL" clId="{EF859C06-2014-4A3D-B5EE-7F03E77ED81E}" dt="2025-11-19T08:34:56.457" v="0" actId="478"/>
          <ac:picMkLst>
            <pc:docMk/>
            <pc:sldMk cId="703495152" sldId="264"/>
            <ac:picMk id="7" creationId="{8249488F-129E-0F6F-19AF-B00E317A45AF}"/>
          </ac:picMkLst>
        </pc:picChg>
      </pc:sldChg>
      <pc:sldChg chg="addSp delSp modSp mod">
        <pc:chgData name="Graf Thomas, SCS-INI-NET-VNC-E2E" userId="487bc3e3-9ce7-4cdd-b7b4-8899ea88d289" providerId="ADAL" clId="{EF859C06-2014-4A3D-B5EE-7F03E77ED81E}" dt="2025-11-19T08:35:18.468" v="7" actId="1076"/>
        <pc:sldMkLst>
          <pc:docMk/>
          <pc:sldMk cId="1859012803" sldId="271"/>
        </pc:sldMkLst>
        <pc:picChg chg="add mod">
          <ac:chgData name="Graf Thomas, SCS-INI-NET-VNC-E2E" userId="487bc3e3-9ce7-4cdd-b7b4-8899ea88d289" providerId="ADAL" clId="{EF859C06-2014-4A3D-B5EE-7F03E77ED81E}" dt="2025-11-19T08:35:18.468" v="7" actId="1076"/>
          <ac:picMkLst>
            <pc:docMk/>
            <pc:sldMk cId="1859012803" sldId="271"/>
            <ac:picMk id="5" creationId="{83C9D532-04E5-151D-138D-346CD68EA7AA}"/>
          </ac:picMkLst>
        </pc:picChg>
        <pc:picChg chg="del">
          <ac:chgData name="Graf Thomas, SCS-INI-NET-VNC-E2E" userId="487bc3e3-9ce7-4cdd-b7b4-8899ea88d289" providerId="ADAL" clId="{EF859C06-2014-4A3D-B5EE-7F03E77ED81E}" dt="2025-11-19T08:35:15.939" v="5" actId="478"/>
          <ac:picMkLst>
            <pc:docMk/>
            <pc:sldMk cId="1859012803" sldId="271"/>
            <ac:picMk id="8" creationId="{3E80C31F-C4B2-853C-704F-CDF575DEF94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2304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337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220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3003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7204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108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13" name="Google Shape;13;p2"/>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159514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17" name="Google Shape;17;p3"/>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18" name="Google Shape;18;p3"/>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3"/>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21" name="Google Shape;21;p3"/>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4074776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26" name="Google Shape;26;p4"/>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27" name="Google Shape;27;p4"/>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2970455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31" name="Google Shape;31;p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91514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sp>
        <p:nvSpPr>
          <p:cNvPr id="33" name="Google Shape;33;p6"/>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6"/>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6" name="Google Shape;36;p6"/>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7" name="Google Shape;37;p6"/>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8" name="Google Shape;38;p6"/>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39" name="Google Shape;39;p6"/>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727090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7"/>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44" name="Google Shape;44;p7"/>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45" name="Google Shape;45;p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41215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48" name="Google Shape;4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649635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9"/>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53" name="Google Shape;53;p9"/>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54" name="Google Shape;54;p9"/>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55" name="Google Shape;55;p9"/>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22834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6"/>
        <p:cNvGrpSpPr/>
        <p:nvPr/>
      </p:nvGrpSpPr>
      <p:grpSpPr>
        <a:xfrm>
          <a:off x="0" y="0"/>
          <a:ext cx="0" cy="0"/>
          <a:chOff x="0" y="0"/>
          <a:chExt cx="0" cy="0"/>
        </a:xfrm>
      </p:grpSpPr>
      <p:sp>
        <p:nvSpPr>
          <p:cNvPr id="57" name="Google Shape;57;p10"/>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0"/>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60" name="Google Shape;60;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643248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63" name="Google Shape;63;p11"/>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4" name="Google Shape;64;p1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552903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7879677"/>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atatracker.ietf.org/group/bmwg/abou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group/ippm/about/"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notes.ietf.org/notes-ietf-interim-2025-ippm-01-ipp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datatracker.ietf.org/doc/html/draft-ietf-ippm-asymmetrical-pkts" TargetMode="External"/><Relationship Id="rId3" Type="http://schemas.openxmlformats.org/officeDocument/2006/relationships/hyperlink" Target="https://datatracker.ietf.org/doc/draft-ietf-bmwg-mlrsearch/" TargetMode="External"/><Relationship Id="rId7" Type="http://schemas.openxmlformats.org/officeDocument/2006/relationships/hyperlink" Target="https://datatracker.ietf.org/doc/html/draft-ietf-ippm-capacity-protoco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datatracker.ietf.org/doc/draft-ietf-bmwg-powerbench/" TargetMode="External"/><Relationship Id="rId11" Type="http://schemas.openxmlformats.org/officeDocument/2006/relationships/hyperlink" Target="https://datatracker.ietf.org/doc/html/draft-iuzh-ippm-ioam-integrity-yang" TargetMode="External"/><Relationship Id="rId5" Type="http://schemas.openxmlformats.org/officeDocument/2006/relationships/hyperlink" Target="https://datatracker.ietf.org/doc/draft-ietf-bmwg-sr-bench-meth/" TargetMode="External"/><Relationship Id="rId10" Type="http://schemas.openxmlformats.org/officeDocument/2006/relationships/hyperlink" Target="https://datatracker.ietf.org/doc/html/draft-ietf-ippm-qoo" TargetMode="External"/><Relationship Id="rId4" Type="http://schemas.openxmlformats.org/officeDocument/2006/relationships/hyperlink" Target="https://datatracker.ietf.org/doc/draft-ietf-bmwg-network-tester-cfg/" TargetMode="External"/><Relationship Id="rId9" Type="http://schemas.openxmlformats.org/officeDocument/2006/relationships/hyperlink" Target="https://datatracker.ietf.org/doc/html/draft-ietf-ippm-hybrid-two-ste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ietf.org/how/meetings/preparatio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www.ietf.org/how/meetings/issu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lvl="0"/>
            <a:r>
              <a:rPr lang="en-US" sz="3600" dirty="0">
                <a:latin typeface="Inter"/>
                <a:ea typeface="Inter"/>
                <a:cs typeface="Inter"/>
                <a:sym typeface="Inter"/>
              </a:rPr>
              <a:t>BMWG &amp; IPPM</a:t>
            </a:r>
            <a:r>
              <a:rPr lang="en-US" sz="3600" dirty="0"/>
              <a:t> interim-2025-01</a:t>
            </a:r>
            <a:endParaRPr lang="en-US" sz="3600" dirty="0">
              <a:latin typeface="Inter"/>
              <a:ea typeface="Inter"/>
              <a:cs typeface="Inter"/>
              <a:sym typeface="Inter"/>
            </a:endParaRP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20 November 2025</a:t>
            </a:r>
            <a:endParaRPr lang="en-US"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p>
          <a:p>
            <a:pPr marL="0" lvl="0" indent="0" algn="l" rtl="0">
              <a:spcBef>
                <a:spcPts val="0"/>
              </a:spcBef>
              <a:spcAft>
                <a:spcPts val="0"/>
              </a:spcAft>
              <a:buNone/>
            </a:pPr>
            <a:r>
              <a:rPr lang="en-US" sz="1200" dirty="0">
                <a:latin typeface="Inter"/>
                <a:ea typeface="Inter"/>
                <a:cs typeface="Inter"/>
                <a:sym typeface="Inter"/>
              </a:rPr>
              <a:t>© 2025 IETF Trust </a:t>
            </a: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lang="en-US" sz="1200" dirty="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By participating in the IETF you agree to follow IETF processes and policies. This Note Well is a reminder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some of those policies. For a linked version of this text, please visit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www.ietf.org</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/note-well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or use the QR code below.</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IETF participants are expected to behave in a professional manner and extend respect and courtesy to their colleagues at all times (see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7154: IETF Guidelines for Conduct and IETF Anti-Harassment Policy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If you have any concerns about behavior, please contact the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Ombudsteam</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who have a duty of confidentiality and extensive powers to act, as set out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7776: IETF Anti-Harassment Procedures</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If you are aware that any IETF contribution (as defined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5378: Rights Contributors Provide to the IETF Trust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is covered by patents or patent applications that are owned or controlled by you, your employer or your sponsor, you must disclose that fact, or not participate in the discussion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8179: Intellectual Property Rights in IETF Technology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detailed process information consult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2026: Internet Standards Process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2418: IETF Working Group Guidelines and Procedures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updates to those.</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The IETF routinely makes public written, audio, video, and photographic records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IETF activities, including your personal information as set out in the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IETF Privacy Statement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0" marR="0" lvl="0" indent="0" algn="l" defTabSz="914400" rtl="0" eaLnBrk="1" fontAlgn="auto" latinLnBrk="0" hangingPunct="1">
              <a:lnSpc>
                <a:spcPct val="115000"/>
              </a:lnSpc>
              <a:spcBef>
                <a:spcPts val="1000"/>
              </a:spcBef>
              <a:spcAft>
                <a:spcPts val="100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advice, please talk to Working Group chairs or Area Directors.</a:t>
            </a:r>
            <a:endParaRPr kumimoji="0" sz="1200" b="0" i="0" u="none" strike="noStrike" kern="0" cap="none" spc="0" normalizeH="0" baseline="0" noProof="0" dirty="0">
              <a:ln>
                <a:noFill/>
              </a:ln>
              <a:solidFill>
                <a:srgbClr val="434343"/>
              </a:solidFill>
              <a:effectLst/>
              <a:uLnTx/>
              <a:uFillTx/>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lvl="0"/>
            <a:r>
              <a:rPr lang="en-US" dirty="0"/>
              <a:t>IETF interim-2025-01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3</a:t>
            </a:fld>
            <a:endParaRPr lang="en-US" dirty="0"/>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lvl="0" indent="0" algn="ctr" rtl="0">
              <a:lnSpc>
                <a:spcPct val="110000"/>
              </a:lnSpc>
              <a:spcBef>
                <a:spcPts val="300"/>
              </a:spcBef>
              <a:spcAft>
                <a:spcPts val="0"/>
              </a:spcAft>
              <a:buNone/>
            </a:pPr>
            <a:r>
              <a:rPr lang="en-US" sz="2400" dirty="0">
                <a:solidFill>
                  <a:srgbClr val="FFE599"/>
                </a:solidFill>
                <a:latin typeface="Montserrat"/>
                <a:ea typeface="Montserrat"/>
                <a:cs typeface="Montserrat"/>
                <a:sym typeface="Montserrat"/>
              </a:rPr>
              <a:t>This session is being recorded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Joint BMWG and IPPM Meeting</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sz="1500" dirty="0"/>
              <a:t>Due to similar topics we wanted to facilitate the exchange and discussions between both working groups by having a joint session again and start exploring a joint charter with Qin Wu</a:t>
            </a:r>
            <a:r>
              <a:rPr lang="en-001" sz="1500" dirty="0"/>
              <a:t>.</a:t>
            </a:r>
          </a:p>
          <a:p>
            <a:endParaRPr lang="en-001" sz="1500" dirty="0"/>
          </a:p>
          <a:p>
            <a:r>
              <a:rPr lang="en-US" sz="1500" dirty="0"/>
              <a:t>Qin </a:t>
            </a:r>
            <a:r>
              <a:rPr lang="en-001" sz="1500" dirty="0"/>
              <a:t>presented the rationale for joint chartering at IETF 124</a:t>
            </a:r>
            <a:r>
              <a:rPr lang="en-US" sz="1500" dirty="0"/>
              <a:t>.</a:t>
            </a:r>
            <a:r>
              <a:rPr lang="en-001" sz="1500" dirty="0"/>
              <a:t> Since then we have collected feedback from participants of both working groups.</a:t>
            </a:r>
            <a:endParaRPr lang="en-US" sz="1500" dirty="0"/>
          </a:p>
          <a:p>
            <a:pPr>
              <a:spcBef>
                <a:spcPts val="1200"/>
              </a:spcBef>
            </a:pPr>
            <a:r>
              <a:rPr lang="en-001" sz="1500" dirty="0"/>
              <a:t>At the end of this meeting Qin will present the current status of the ongoing discussions.</a:t>
            </a:r>
            <a:endParaRPr lang="en-US" sz="1500"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Tree>
    <p:extLst>
      <p:ext uri="{BB962C8B-B14F-4D97-AF65-F5344CB8AC3E}">
        <p14:creationId xmlns:p14="http://schemas.microsoft.com/office/powerpoint/2010/main" val="2434865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BMWG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146050" marR="0" lvl="0" indent="0" algn="l" rtl="0">
              <a:lnSpc>
                <a:spcPct val="115000"/>
              </a:lnSpc>
              <a:spcBef>
                <a:spcPts val="600"/>
              </a:spcBef>
              <a:spcAft>
                <a:spcPts val="0"/>
              </a:spcAft>
              <a:buClr>
                <a:srgbClr val="434343"/>
              </a:buClr>
              <a:buSzPts val="1300"/>
              <a:buNone/>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Benchmarking Methodology Working Group (BMWG) will continue to produce a series of recommendations concerning the </a:t>
            </a:r>
            <a:r>
              <a:rPr lang="en-US" sz="1300" b="1" dirty="0">
                <a:solidFill>
                  <a:srgbClr val="434343"/>
                </a:solidFill>
                <a:latin typeface="Inter"/>
                <a:ea typeface="Inter"/>
                <a:cs typeface="Inter"/>
                <a:sym typeface="Inter"/>
              </a:rPr>
              <a:t>key performance characteristics of internetworking technologies, or benchmarks for network devices, systems, and services. </a:t>
            </a:r>
            <a:r>
              <a:rPr lang="en-US" sz="1300" dirty="0">
                <a:solidFill>
                  <a:srgbClr val="434343"/>
                </a:solidFill>
                <a:latin typeface="Inter"/>
                <a:ea typeface="Inter"/>
                <a:cs typeface="Inter"/>
                <a:sym typeface="Inter"/>
              </a:rPr>
              <a:t>Taking a view of networking divided into planes, the scope of work includes benchmarks for the management, control, and forwarding planes.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set of relevant benchmarks will be developed with input from the community of users (network operators and testing organizations) and from those affected by the benchmarks when they are published (networking and test equipment manufacturers).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scope of the BMWG is limited to the characterization of implementations of various internetworking technologies using controlled stimuli in a laboratory environment. Said differently, the BMWG does not attempt to produce benchmarks for live, operational networks.</a:t>
            </a:r>
          </a:p>
          <a:p>
            <a:pPr marL="146050" marR="0" lvl="0" indent="0" algn="l" rtl="0">
              <a:lnSpc>
                <a:spcPct val="115000"/>
              </a:lnSpc>
              <a:spcBef>
                <a:spcPts val="600"/>
              </a:spcBef>
              <a:spcAft>
                <a:spcPts val="0"/>
              </a:spcAft>
              <a:buClr>
                <a:srgbClr val="434343"/>
              </a:buClr>
              <a:buSzPts val="1300"/>
              <a:buNone/>
            </a:pPr>
            <a:endParaRPr lang="en-US" sz="1300" b="1" dirty="0">
              <a:solidFill>
                <a:srgbClr val="434343"/>
              </a:solidFill>
              <a:latin typeface="Inter"/>
              <a:ea typeface="Inter"/>
              <a:cs typeface="Inter"/>
              <a:sym typeface="Inter"/>
            </a:endParaRPr>
          </a:p>
          <a:p>
            <a:pPr marL="146050" marR="0" lvl="0" indent="0" algn="l" rtl="0">
              <a:lnSpc>
                <a:spcPct val="115000"/>
              </a:lnSpc>
              <a:spcBef>
                <a:spcPts val="600"/>
              </a:spcBef>
              <a:spcAft>
                <a:spcPts val="0"/>
              </a:spcAft>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https://datatracker.ietf.org/group/bmwg/about/</a:t>
            </a: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65984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IPPM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 Performance Measurement (IPPM) Working Group </a:t>
            </a:r>
            <a:r>
              <a:rPr lang="en-US" sz="1300" b="1" dirty="0">
                <a:solidFill>
                  <a:srgbClr val="434343"/>
                </a:solidFill>
                <a:latin typeface="Inter"/>
                <a:ea typeface="Inter"/>
                <a:cs typeface="Inter"/>
                <a:sym typeface="Inter"/>
              </a:rPr>
              <a:t>develops and maintains standard metrics that can be applied to the quality, performance, and reliability of Internet data delivery services and applications running over transport layer protocols (e.g. TCP, UDP) over IP. </a:t>
            </a:r>
            <a:r>
              <a:rPr lang="en-US" sz="1300" dirty="0">
                <a:solidFill>
                  <a:srgbClr val="434343"/>
                </a:solidFill>
                <a:latin typeface="Inter"/>
                <a:ea typeface="Inter"/>
                <a:cs typeface="Inter"/>
                <a:sym typeface="Inter"/>
              </a:rPr>
              <a:t>It also develops and maintains methodologies and protocols for the measurement of these metrics. These metrics, protocols, and methodologies are designed such that they can be used by network operators, end users, or independent testing groups. Metrics developed by the IPPM WG are intended to provide unbiased quantitative performance measurements.</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IPPM WG works to foster commonality and comparability of metrics and measurements across IETF protocols at different layers. Its work is limited to metrics and methodologies which are applicable over transport-layer protocols over IP, and does not specify encapsulations required for measurements over non-IP layers.</a:t>
            </a: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https://datatracker.ietf.org/group/ippm/about/</a:t>
            </a:r>
            <a:br>
              <a:rPr lang="en-US" sz="1300" dirty="0">
                <a:solidFill>
                  <a:srgbClr val="434343"/>
                </a:solidFill>
                <a:latin typeface="Inter"/>
                <a:ea typeface="Inter"/>
                <a:cs typeface="Inter"/>
                <a:sym typeface="Inter"/>
              </a:rPr>
            </a:b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38331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https://notes.ietf.org/notes-ietf-interim-2025-ippm-01-ippm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Tree>
    <p:extLst>
      <p:ext uri="{BB962C8B-B14F-4D97-AF65-F5344CB8AC3E}">
        <p14:creationId xmlns:p14="http://schemas.microsoft.com/office/powerpoint/2010/main" val="3471097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Proposed Work</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8</a:t>
            </a:fld>
            <a:endParaRPr lang="en-US" dirty="0"/>
          </a:p>
        </p:txBody>
      </p:sp>
      <p:pic>
        <p:nvPicPr>
          <p:cNvPr id="5" name="Picture 4">
            <a:extLst>
              <a:ext uri="{FF2B5EF4-FFF2-40B4-BE49-F238E27FC236}">
                <a16:creationId xmlns:a16="http://schemas.microsoft.com/office/drawing/2014/main" id="{7322EFFC-85B1-3D16-4EA1-12868D6A22B5}"/>
              </a:ext>
            </a:extLst>
          </p:cNvPr>
          <p:cNvPicPr>
            <a:picLocks noChangeAspect="1"/>
          </p:cNvPicPr>
          <p:nvPr/>
        </p:nvPicPr>
        <p:blipFill>
          <a:blip r:embed="rId3"/>
          <a:stretch>
            <a:fillRect/>
          </a:stretch>
        </p:blipFill>
        <p:spPr>
          <a:xfrm>
            <a:off x="471900" y="1882133"/>
            <a:ext cx="6240473" cy="3043144"/>
          </a:xfrm>
          <a:prstGeom prst="rect">
            <a:avLst/>
          </a:prstGeom>
        </p:spPr>
      </p:pic>
    </p:spTree>
    <p:extLst>
      <p:ext uri="{BB962C8B-B14F-4D97-AF65-F5344CB8AC3E}">
        <p14:creationId xmlns:p14="http://schemas.microsoft.com/office/powerpoint/2010/main" val="70349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de-CH" dirty="0"/>
              <a:t>Joint </a:t>
            </a:r>
            <a:r>
              <a:rPr lang="de-CH" dirty="0" err="1"/>
              <a:t>Chartering</a:t>
            </a:r>
            <a:r>
              <a:rPr lang="de-CH" dirty="0"/>
              <a:t> Discussion</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40000" y="4724798"/>
            <a:ext cx="432241" cy="335251"/>
          </a:xfrm>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5" name="Picture 4">
            <a:extLst>
              <a:ext uri="{FF2B5EF4-FFF2-40B4-BE49-F238E27FC236}">
                <a16:creationId xmlns:a16="http://schemas.microsoft.com/office/drawing/2014/main" id="{83C9D532-04E5-151D-138D-346CD68EA7AA}"/>
              </a:ext>
            </a:extLst>
          </p:cNvPr>
          <p:cNvPicPr>
            <a:picLocks noChangeAspect="1"/>
          </p:cNvPicPr>
          <p:nvPr/>
        </p:nvPicPr>
        <p:blipFill>
          <a:blip r:embed="rId3"/>
          <a:stretch>
            <a:fillRect/>
          </a:stretch>
        </p:blipFill>
        <p:spPr>
          <a:xfrm>
            <a:off x="544473" y="2030412"/>
            <a:ext cx="7363853" cy="895475"/>
          </a:xfrm>
          <a:prstGeom prst="rect">
            <a:avLst/>
          </a:prstGeom>
        </p:spPr>
      </p:pic>
    </p:spTree>
    <p:extLst>
      <p:ext uri="{BB962C8B-B14F-4D97-AF65-F5344CB8AC3E}">
        <p14:creationId xmlns:p14="http://schemas.microsoft.com/office/powerpoint/2010/main" val="1859012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a:xfrm>
            <a:off x="471899" y="218223"/>
            <a:ext cx="8395009" cy="1288203"/>
          </a:xfrm>
        </p:spPr>
        <p:txBody>
          <a:bodyPr anchor="ctr"/>
          <a:lstStyle/>
          <a:p>
            <a:r>
              <a:rPr lang="en-US" sz="3200" dirty="0"/>
              <a:t>BMWG and IPPM Document Updates</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301916" y="1851076"/>
            <a:ext cx="4197503" cy="2802986"/>
          </a:xfrm>
        </p:spPr>
        <p:txBody>
          <a:bodyPr/>
          <a:lstStyle/>
          <a:p>
            <a:pPr marL="114300" indent="0">
              <a:buNone/>
            </a:pPr>
            <a:r>
              <a:rPr lang="de-CH" sz="1600" b="1" dirty="0"/>
              <a:t>BMWG</a:t>
            </a:r>
            <a:endParaRPr lang="de-CH" sz="1600" b="1" dirty="0">
              <a:hlinkClick r:id="rId3"/>
            </a:endParaRPr>
          </a:p>
          <a:p>
            <a:r>
              <a:rPr lang="de-CH" sz="1200" b="1" dirty="0">
                <a:hlinkClick r:id="rId3"/>
              </a:rPr>
              <a:t>draft-ietf-bmwg-mlrsearch</a:t>
            </a:r>
            <a:r>
              <a:rPr lang="de-CH" sz="1200" b="1" dirty="0"/>
              <a:t> </a:t>
            </a:r>
            <a:r>
              <a:rPr lang="en-US" sz="1200" dirty="0"/>
              <a:t>submitted to IESG for publication.</a:t>
            </a:r>
          </a:p>
          <a:p>
            <a:r>
              <a:rPr lang="de-CH" sz="1200" b="1" dirty="0">
                <a:hlinkClick r:id="rId4"/>
              </a:rPr>
              <a:t>draft-ietf-bmwg-network-tester-cfg</a:t>
            </a:r>
            <a:r>
              <a:rPr lang="de-CH" sz="1200" dirty="0"/>
              <a:t> passed WGLC but a new revision is needed to address the Yangdoctors review.</a:t>
            </a:r>
          </a:p>
          <a:p>
            <a:r>
              <a:rPr lang="de-CH" sz="1200" b="1" dirty="0">
                <a:hlinkClick r:id="rId5"/>
              </a:rPr>
              <a:t>draft-ietf-bmwg-sr-bench-meth</a:t>
            </a:r>
            <a:r>
              <a:rPr lang="de-CH" sz="1200" b="1" dirty="0"/>
              <a:t> </a:t>
            </a:r>
            <a:r>
              <a:rPr lang="de-CH" sz="1200" dirty="0"/>
              <a:t>preparing for the WGLC.</a:t>
            </a:r>
          </a:p>
          <a:p>
            <a:r>
              <a:rPr lang="de-CH" sz="1200" b="1" dirty="0">
                <a:hlinkClick r:id="rId6"/>
              </a:rPr>
              <a:t>draft-ietf-bmwg-powerbench</a:t>
            </a:r>
            <a:r>
              <a:rPr lang="de-CH" sz="1200" b="1" dirty="0"/>
              <a:t> </a:t>
            </a:r>
            <a:r>
              <a:rPr lang="de-CH" sz="1200" dirty="0"/>
              <a:t>just adopted.</a:t>
            </a:r>
          </a:p>
          <a:p>
            <a:r>
              <a:rPr lang="de-CH" sz="1200" dirty="0"/>
              <a:t>Resumed the discussion for revisiting BMWG RFCs in order to update RFC 2544.</a:t>
            </a:r>
          </a:p>
        </p:txBody>
      </p:sp>
      <p:sp>
        <p:nvSpPr>
          <p:cNvPr id="7" name="Text Placeholder 2">
            <a:extLst>
              <a:ext uri="{FF2B5EF4-FFF2-40B4-BE49-F238E27FC236}">
                <a16:creationId xmlns:a16="http://schemas.microsoft.com/office/drawing/2014/main" id="{C14FDDA7-186A-40C6-8EC3-6D66D9D98819}"/>
              </a:ext>
            </a:extLst>
          </p:cNvPr>
          <p:cNvSpPr txBox="1">
            <a:spLocks/>
          </p:cNvSpPr>
          <p:nvPr/>
        </p:nvSpPr>
        <p:spPr>
          <a:xfrm>
            <a:off x="4499419" y="1851077"/>
            <a:ext cx="4197503" cy="2802986"/>
          </a:xfrm>
          <a:prstGeom prst="rect">
            <a:avLst/>
          </a:prstGeom>
          <a:noFill/>
          <a:ln>
            <a:noFill/>
          </a:ln>
        </p:spPr>
        <p:txBody>
          <a:bodyPr spcFirstLastPara="1" wrap="square" lIns="91400" tIns="91400" rIns="91400" bIns="9140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rgbClr val="002D3C"/>
              </a:buClr>
              <a:buSzPts val="1800"/>
              <a:buFont typeface="Inter"/>
              <a:buChar char="●"/>
              <a:defRPr sz="1800" b="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b="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b="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b="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b="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b="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b="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b="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b="0" i="0" u="none" strike="noStrike" cap="none">
                <a:solidFill>
                  <a:srgbClr val="737373"/>
                </a:solidFill>
                <a:latin typeface="Inter"/>
                <a:ea typeface="Inter"/>
                <a:cs typeface="Inter"/>
                <a:sym typeface="Inter"/>
              </a:defRPr>
            </a:lvl9pPr>
          </a:lstStyle>
          <a:p>
            <a:pPr marL="114300" indent="0">
              <a:buFont typeface="Inter"/>
              <a:buNone/>
            </a:pPr>
            <a:r>
              <a:rPr lang="de-CH" sz="1600" b="1" dirty="0"/>
              <a:t>IPPM</a:t>
            </a:r>
            <a:endParaRPr lang="de-CH" sz="1600" b="1" dirty="0">
              <a:hlinkClick r:id="rId3"/>
            </a:endParaRPr>
          </a:p>
          <a:p>
            <a:r>
              <a:rPr lang="en-US" sz="1200" b="1" dirty="0">
                <a:hlinkClick r:id="rId7"/>
              </a:rPr>
              <a:t>draft-</a:t>
            </a:r>
            <a:r>
              <a:rPr lang="en-US" sz="1200" b="1" dirty="0" err="1">
                <a:hlinkClick r:id="rId7"/>
              </a:rPr>
              <a:t>ietf</a:t>
            </a:r>
            <a:r>
              <a:rPr lang="en-US" sz="1200" b="1" dirty="0">
                <a:hlinkClick r:id="rId7"/>
              </a:rPr>
              <a:t>-ippm-capacity-protocol</a:t>
            </a:r>
            <a:r>
              <a:rPr lang="en-US" sz="1200" b="1" dirty="0"/>
              <a:t> </a:t>
            </a:r>
            <a:r>
              <a:rPr lang="en-US" sz="1200" dirty="0"/>
              <a:t>approved by IESG.</a:t>
            </a:r>
          </a:p>
          <a:p>
            <a:r>
              <a:rPr lang="en-US" sz="1200" b="1" dirty="0">
                <a:hlinkClick r:id="rId8"/>
              </a:rPr>
              <a:t>draft-</a:t>
            </a:r>
            <a:r>
              <a:rPr lang="en-US" sz="1200" b="1" dirty="0" err="1">
                <a:hlinkClick r:id="rId8"/>
              </a:rPr>
              <a:t>ietf</a:t>
            </a:r>
            <a:r>
              <a:rPr lang="en-US" sz="1200" b="1" dirty="0">
                <a:hlinkClick r:id="rId8"/>
              </a:rPr>
              <a:t>-ippm-asymmetrical-pkts</a:t>
            </a:r>
            <a:r>
              <a:rPr lang="en-US" sz="1200" b="1" dirty="0"/>
              <a:t> </a:t>
            </a:r>
            <a:r>
              <a:rPr lang="en-US" sz="1200" dirty="0"/>
              <a:t>and</a:t>
            </a:r>
            <a:r>
              <a:rPr lang="en-US" sz="1200" b="1" dirty="0"/>
              <a:t> </a:t>
            </a:r>
            <a:r>
              <a:rPr lang="en-US" sz="1200" b="1" dirty="0">
                <a:hlinkClick r:id="rId9"/>
              </a:rPr>
              <a:t>draft-</a:t>
            </a:r>
            <a:r>
              <a:rPr lang="en-US" sz="1200" b="1" dirty="0" err="1">
                <a:hlinkClick r:id="rId9"/>
              </a:rPr>
              <a:t>ietf</a:t>
            </a:r>
            <a:r>
              <a:rPr lang="en-US" sz="1200" b="1" dirty="0">
                <a:hlinkClick r:id="rId9"/>
              </a:rPr>
              <a:t>-ippm-hybrid-two-step</a:t>
            </a:r>
            <a:r>
              <a:rPr lang="en-US" sz="1200" b="1" dirty="0"/>
              <a:t> </a:t>
            </a:r>
            <a:r>
              <a:rPr lang="en-US" sz="1200" dirty="0"/>
              <a:t>has been passed on to IESG.</a:t>
            </a:r>
          </a:p>
          <a:p>
            <a:r>
              <a:rPr lang="en-US" sz="1200" b="1" dirty="0">
                <a:hlinkClick r:id="rId9"/>
              </a:rPr>
              <a:t>draft-</a:t>
            </a:r>
            <a:r>
              <a:rPr lang="en-US" sz="1200" b="1" dirty="0" err="1">
                <a:hlinkClick r:id="rId9"/>
              </a:rPr>
              <a:t>ietf</a:t>
            </a:r>
            <a:r>
              <a:rPr lang="en-US" sz="1200" b="1" dirty="0">
                <a:hlinkClick r:id="rId9"/>
              </a:rPr>
              <a:t>-ippm-hybrid-two-step</a:t>
            </a:r>
            <a:r>
              <a:rPr lang="en-US" sz="1200" b="1" dirty="0"/>
              <a:t> </a:t>
            </a:r>
            <a:r>
              <a:rPr lang="en-US" sz="1200" dirty="0"/>
              <a:t>received OPS AD review.</a:t>
            </a:r>
          </a:p>
          <a:p>
            <a:r>
              <a:rPr lang="en-US" sz="1200" b="1" dirty="0">
                <a:hlinkClick r:id="rId10"/>
              </a:rPr>
              <a:t>draft-</a:t>
            </a:r>
            <a:r>
              <a:rPr lang="en-US" sz="1200" b="1" dirty="0" err="1">
                <a:hlinkClick r:id="rId10"/>
              </a:rPr>
              <a:t>ietf</a:t>
            </a:r>
            <a:r>
              <a:rPr lang="en-US" sz="1200" b="1" dirty="0">
                <a:hlinkClick r:id="rId10"/>
              </a:rPr>
              <a:t>-ippm-</a:t>
            </a:r>
            <a:r>
              <a:rPr lang="en-US" sz="1200" b="1" dirty="0" err="1">
                <a:hlinkClick r:id="rId10"/>
              </a:rPr>
              <a:t>qoo</a:t>
            </a:r>
            <a:r>
              <a:rPr lang="en-US" sz="1200" b="1" dirty="0"/>
              <a:t> </a:t>
            </a:r>
            <a:r>
              <a:rPr lang="en-US" sz="1200" dirty="0"/>
              <a:t>publication request.</a:t>
            </a:r>
          </a:p>
          <a:p>
            <a:r>
              <a:rPr lang="en-US" sz="1200" b="1" dirty="0">
                <a:hlinkClick r:id="rId11"/>
              </a:rPr>
              <a:t>draft-</a:t>
            </a:r>
            <a:r>
              <a:rPr lang="en-US" sz="1200" b="1" dirty="0" err="1">
                <a:hlinkClick r:id="rId11"/>
              </a:rPr>
              <a:t>iuzh</a:t>
            </a:r>
            <a:r>
              <a:rPr lang="en-US" sz="1200" b="1" dirty="0">
                <a:hlinkClick r:id="rId11"/>
              </a:rPr>
              <a:t>-ippm-</a:t>
            </a:r>
            <a:r>
              <a:rPr lang="en-US" sz="1200" b="1" dirty="0" err="1">
                <a:hlinkClick r:id="rId11"/>
              </a:rPr>
              <a:t>ioam</a:t>
            </a:r>
            <a:r>
              <a:rPr lang="en-US" sz="1200" b="1" dirty="0">
                <a:hlinkClick r:id="rId11"/>
              </a:rPr>
              <a:t>-integrity-yang</a:t>
            </a:r>
            <a:r>
              <a:rPr lang="en-US" sz="1200" dirty="0"/>
              <a:t> adoption call is currently running.</a:t>
            </a:r>
          </a:p>
        </p:txBody>
      </p:sp>
    </p:spTree>
    <p:extLst>
      <p:ext uri="{BB962C8B-B14F-4D97-AF65-F5344CB8AC3E}">
        <p14:creationId xmlns:p14="http://schemas.microsoft.com/office/powerpoint/2010/main" val="1372742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lvl="0"/>
            <a:r>
              <a:rPr lang="en-US" dirty="0"/>
              <a:t>Resources for interim-2025-01</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600428" cy="2710200"/>
          </a:xfrm>
          <a:prstGeom prst="rect">
            <a:avLst/>
          </a:prstGeom>
          <a:noFill/>
          <a:ln>
            <a:noFill/>
          </a:ln>
        </p:spPr>
        <p:txBody>
          <a:bodyPr spcFirstLastPara="1" wrap="square" lIns="91400" tIns="91400" rIns="91400" bIns="91400" anchor="t" anchorCtr="0">
            <a:noAutofit/>
          </a:bodyPr>
          <a:lstStyle/>
          <a:p>
            <a:pPr lvl="0">
              <a:lnSpc>
                <a:spcPct val="110000"/>
              </a:lnSpc>
              <a:spcBef>
                <a:spcPts val="300"/>
              </a:spcBef>
              <a:buClr>
                <a:srgbClr val="000000"/>
              </a:buClr>
            </a:pPr>
            <a:r>
              <a:rPr lang="en-US" dirty="0">
                <a:solidFill>
                  <a:srgbClr val="000000"/>
                </a:solidFill>
              </a:rPr>
              <a:t>Agenda</a:t>
            </a:r>
            <a:br>
              <a:rPr lang="en-US" b="1" dirty="0">
                <a:solidFill>
                  <a:srgbClr val="000000"/>
                </a:solidFill>
              </a:rPr>
            </a:br>
            <a:r>
              <a:rPr lang="en-US" u="sng" dirty="0">
                <a:solidFill>
                  <a:schemeClr val="hlink"/>
                </a:solidFill>
              </a:rPr>
              <a:t>https://datatracker.ietf.org/meeting/interim-2025-ippm-01/session/ippm</a:t>
            </a:r>
          </a:p>
          <a:p>
            <a:pPr lvl="0">
              <a:lnSpc>
                <a:spcPct val="110000"/>
              </a:lnSpc>
              <a:spcBef>
                <a:spcPts val="300"/>
              </a:spcBef>
              <a:buClr>
                <a:srgbClr val="000000"/>
              </a:buClr>
            </a:pPr>
            <a:r>
              <a:rPr lang="en-US" dirty="0" err="1">
                <a:solidFill>
                  <a:srgbClr val="000000"/>
                </a:solidFill>
              </a:rPr>
              <a:t>Meetecho</a:t>
            </a:r>
            <a:r>
              <a:rPr lang="en-US" dirty="0">
                <a:solidFill>
                  <a:srgbClr val="000000"/>
                </a:solidFill>
              </a:rPr>
              <a:t> and other information:</a:t>
            </a:r>
            <a:br>
              <a:rPr lang="en-US" dirty="0">
                <a:solidFill>
                  <a:srgbClr val="000000"/>
                </a:solidFill>
              </a:rPr>
            </a:br>
            <a:r>
              <a:rPr lang="en-US" u="sng" dirty="0">
                <a:solidFill>
                  <a:schemeClr val="hlink"/>
                </a:solidFill>
                <a:hlinkClick r:id="rId3"/>
              </a:rPr>
              <a:t>https://www.ietf.org/how/meetings/preparation</a:t>
            </a:r>
            <a:r>
              <a:rPr lang="en-US" dirty="0">
                <a:solidFill>
                  <a:srgbClr val="000000"/>
                </a:solidFill>
              </a:rPr>
              <a:t> </a:t>
            </a:r>
            <a:endParaRPr dirty="0">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dirty="0">
                <a:solidFill>
                  <a:srgbClr val="000000"/>
                </a:solidFill>
              </a:rPr>
              <a:t>If you need technical assistance, see the Reporting Issues page:</a:t>
            </a:r>
            <a:br>
              <a:rPr lang="en-US" dirty="0">
                <a:solidFill>
                  <a:srgbClr val="000000"/>
                </a:solidFill>
              </a:rPr>
            </a:br>
            <a:r>
              <a:rPr lang="en-US" u="sng" dirty="0">
                <a:solidFill>
                  <a:schemeClr val="hlink"/>
                </a:solidFill>
                <a:hlinkClick r:id="rId4"/>
              </a:rPr>
              <a:t>http://www.ietf.org/how/meetings/issues/</a:t>
            </a:r>
            <a:endParaRPr dirty="0">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11</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8792A905D4FBE4781303B372FFF56B7" ma:contentTypeVersion="18" ma:contentTypeDescription="Ein neues Dokument erstellen." ma:contentTypeScope="" ma:versionID="1bed101c48ab8d637c0f10f3a19033d6">
  <xsd:schema xmlns:xsd="http://www.w3.org/2001/XMLSchema" xmlns:xs="http://www.w3.org/2001/XMLSchema" xmlns:p="http://schemas.microsoft.com/office/2006/metadata/properties" xmlns:ns3="3e5e162a-5953-4fde-83b3-9639e6ab13bb" xmlns:ns4="266fa233-377d-43d6-82a1-e70154e55ff7" targetNamespace="http://schemas.microsoft.com/office/2006/metadata/properties" ma:root="true" ma:fieldsID="ad54ca06dfd6fdd081bd33575dcf7e57" ns3:_="" ns4:_="">
    <xsd:import namespace="3e5e162a-5953-4fde-83b3-9639e6ab13bb"/>
    <xsd:import namespace="266fa233-377d-43d6-82a1-e70154e55ff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5e162a-5953-4fde-83b3-9639e6ab1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66fa233-377d-43d6-82a1-e70154e55ff7"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element name="SharingHintHash" ma:index="18"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e5e162a-5953-4fde-83b3-9639e6ab13bb" xsi:nil="true"/>
  </documentManagement>
</p:properties>
</file>

<file path=customXml/itemProps1.xml><?xml version="1.0" encoding="utf-8"?>
<ds:datastoreItem xmlns:ds="http://schemas.openxmlformats.org/officeDocument/2006/customXml" ds:itemID="{F4805544-B524-4E4A-B7C1-6ABFC59992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5e162a-5953-4fde-83b3-9639e6ab13bb"/>
    <ds:schemaRef ds:uri="266fa233-377d-43d6-82a1-e70154e55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04BBC9-6B71-4DC1-A0E0-1E198363AC7F}">
  <ds:schemaRefs>
    <ds:schemaRef ds:uri="http://schemas.microsoft.com/sharepoint/v3/contenttype/forms"/>
  </ds:schemaRefs>
</ds:datastoreItem>
</file>

<file path=customXml/itemProps3.xml><?xml version="1.0" encoding="utf-8"?>
<ds:datastoreItem xmlns:ds="http://schemas.openxmlformats.org/officeDocument/2006/customXml" ds:itemID="{3D7021EF-4D3D-4708-92FB-F2CD02CEF7A1}">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e5e162a-5953-4fde-83b3-9639e6ab13bb"/>
    <ds:schemaRef ds:uri="266fa233-377d-43d6-82a1-e70154e55ff7"/>
    <ds:schemaRef ds:uri="http://purl.org/dc/terms/"/>
    <ds:schemaRef ds:uri="http://www.w3.org/XML/1998/namespace"/>
    <ds:schemaRef ds:uri="http://purl.org/dc/dcmitype/"/>
  </ds:schemaRefs>
</ds:datastoreItem>
</file>

<file path=docMetadata/LabelInfo.xml><?xml version="1.0" encoding="utf-8"?>
<clbl:labelList xmlns:clbl="http://schemas.microsoft.com/office/2020/mipLabelMetadata">
  <clbl:label id="{2e1fccfb-80ca-4fe1-a574-1516544edb53}" enabled="1" method="Standard" siteId="{364e5b87-c1c7-420d-9bee-c35d19b557a1}" removed="0"/>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otalTime>0</TotalTime>
  <Words>1088</Words>
  <Application>Microsoft Office PowerPoint</Application>
  <PresentationFormat>On-screen Show (16:9)</PresentationFormat>
  <Paragraphs>78</Paragraphs>
  <Slides>11</Slides>
  <Notes>11</Notes>
  <HiddenSlides>1</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11</vt:i4>
      </vt:variant>
    </vt:vector>
  </HeadingPairs>
  <TitlesOfParts>
    <vt:vector size="21" baseType="lpstr">
      <vt:lpstr>Montserrat</vt:lpstr>
      <vt:lpstr>Open Sans</vt:lpstr>
      <vt:lpstr>Open Sans SemiBold</vt:lpstr>
      <vt:lpstr>Arial</vt:lpstr>
      <vt:lpstr>Roboto</vt:lpstr>
      <vt:lpstr>Open Sans Medium</vt:lpstr>
      <vt:lpstr>Inter</vt:lpstr>
      <vt:lpstr>Material</vt:lpstr>
      <vt:lpstr>IETF Template</vt:lpstr>
      <vt:lpstr>1_IETF Template</vt:lpstr>
      <vt:lpstr>BMWG &amp; IPPM interim-2025-01</vt:lpstr>
      <vt:lpstr>Note Well</vt:lpstr>
      <vt:lpstr>IETF interim-2025-01 Meeting Tips</vt:lpstr>
      <vt:lpstr>Joint BMWG and IPPM Meeting</vt:lpstr>
      <vt:lpstr>BMWG charter</vt:lpstr>
      <vt:lpstr>IPPM charter</vt:lpstr>
      <vt:lpstr>Notetaker</vt:lpstr>
      <vt:lpstr>Agenda – Proposed Work</vt:lpstr>
      <vt:lpstr>Joint Chartering Discussion</vt:lpstr>
      <vt:lpstr>BMWG and IPPM Document Updates</vt:lpstr>
      <vt:lpstr>Resources for interim-2025-01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123 BMWG &amp; IPPM</dc:title>
  <dc:creator>Graf Thomas, INI-NET-VNC-E2E</dc:creator>
  <cp:lastModifiedBy>Graf Thomas, SCS-INI-NET-VNC-E2E</cp:lastModifiedBy>
  <cp:revision>32</cp:revision>
  <dcterms:modified xsi:type="dcterms:W3CDTF">2025-11-19T08:35:26Z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0x01010028792A905D4FBE4781303B372FFF56B7</vt:lpwstr>
  </property>
  <property fmtid="{D5CDD505-2E9C-101B-9397-08002B2CF9AE}" pid="3" name="_readonly">
    <vt:lpwstr/>
  </property>
  <property fmtid="{D5CDD505-2E9C-101B-9397-08002B2CF9AE}" pid="4" name="_change">
    <vt:lpwstr/>
  </property>
  <property fmtid="{D5CDD505-2E9C-101B-9397-08002B2CF9AE}" pid="5" name="_full-control">
    <vt:lpwstr/>
  </property>
  <property fmtid="{D5CDD505-2E9C-101B-9397-08002B2CF9AE}" pid="6" name="sflag">
    <vt:lpwstr>1763477835</vt:lpwstr>
  </property>
</Properties>
</file>