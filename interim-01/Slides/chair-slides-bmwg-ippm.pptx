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4" r:id="rId4"/>
    <p:sldMasterId id="2147483665" r:id="rId5"/>
    <p:sldMasterId id="2147483666" r:id="rId6"/>
  </p:sldMasterIdLst>
  <p:notesMasterIdLst>
    <p:notesMasterId r:id="rId19"/>
  </p:notesMasterIdLst>
  <p:sldIdLst>
    <p:sldId id="256" r:id="rId7"/>
    <p:sldId id="272" r:id="rId8"/>
    <p:sldId id="259" r:id="rId9"/>
    <p:sldId id="270" r:id="rId10"/>
    <p:sldId id="268" r:id="rId11"/>
    <p:sldId id="267" r:id="rId12"/>
    <p:sldId id="261" r:id="rId13"/>
    <p:sldId id="264" r:id="rId14"/>
    <p:sldId id="271" r:id="rId15"/>
    <p:sldId id="266" r:id="rId16"/>
    <p:sldId id="273" r:id="rId17"/>
    <p:sldId id="260" r:id="rId18"/>
  </p:sldIdLst>
  <p:sldSz cx="9144000" cy="5143500" type="screen16x9"/>
  <p:notesSz cx="6858000" cy="9144000"/>
  <p:embeddedFontLst>
    <p:embeddedFont>
      <p:font typeface="Inter" panose="020B0604020202020204" charset="0"/>
      <p:regular r:id="rId20"/>
      <p:bold r:id="rId21"/>
      <p:italic r:id="rId22"/>
      <p:boldItalic r:id="rId23"/>
    </p:embeddedFont>
    <p:embeddedFont>
      <p:font typeface="Montserrat" panose="00000500000000000000" pitchFamily="2" charset="0"/>
      <p:regular r:id="rId24"/>
      <p:bold r:id="rId25"/>
      <p:italic r:id="rId26"/>
      <p:boldItalic r:id="rId27"/>
    </p:embeddedFont>
    <p:embeddedFont>
      <p:font typeface="Open Sans" panose="020B0606030504020204" pitchFamily="34" charset="0"/>
      <p:regular r:id="rId28"/>
      <p:bold r:id="rId29"/>
      <p:italic r:id="rId30"/>
      <p:boldItalic r:id="rId31"/>
    </p:embeddedFont>
    <p:embeddedFont>
      <p:font typeface="Open Sans Medium" panose="020B0604020202020204" charset="0"/>
      <p:regular r:id="rId32"/>
      <p:bold r:id="rId33"/>
      <p:italic r:id="rId34"/>
      <p:boldItalic r:id="rId35"/>
    </p:embeddedFont>
    <p:embeddedFont>
      <p:font typeface="Open Sans SemiBold" panose="020B0706030804020204" pitchFamily="34" charset="0"/>
      <p:bold r:id="rId36"/>
      <p:boldItalic r:id="rId37"/>
    </p:embeddedFont>
    <p:embeddedFont>
      <p:font typeface="Roboto" panose="02000000000000000000" pitchFamily="2" charset="0"/>
      <p:regular r:id="rId38"/>
      <p:bold r:id="rId39"/>
      <p:italic r:id="rId40"/>
      <p:boldItalic r:id="rId4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4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859C06-2014-4A3D-B5EE-7F03E77ED81E}" v="8" dt="2025-11-18T12:14:55.07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3" d="100"/>
          <a:sy n="133" d="100"/>
        </p:scale>
        <p:origin x="906" y="126"/>
      </p:cViewPr>
      <p:guideLst>
        <p:guide orient="horz" pos="164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font" Target="fonts/font7.fntdata"/><Relationship Id="rId39" Type="http://schemas.openxmlformats.org/officeDocument/2006/relationships/font" Target="fonts/font20.fntdata"/><Relationship Id="rId3" Type="http://schemas.openxmlformats.org/officeDocument/2006/relationships/customXml" Target="../customXml/item3.xml"/><Relationship Id="rId21" Type="http://schemas.openxmlformats.org/officeDocument/2006/relationships/font" Target="fonts/font2.fntdata"/><Relationship Id="rId34" Type="http://schemas.openxmlformats.org/officeDocument/2006/relationships/font" Target="fonts/font15.fntdata"/><Relationship Id="rId42" Type="http://schemas.openxmlformats.org/officeDocument/2006/relationships/presProps" Target="presProps.xml"/><Relationship Id="rId47" Type="http://schemas.microsoft.com/office/2015/10/relationships/revisionInfo" Target="revisionInfo.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font" Target="fonts/font6.fntdata"/><Relationship Id="rId33" Type="http://schemas.openxmlformats.org/officeDocument/2006/relationships/font" Target="fonts/font14.fntdata"/><Relationship Id="rId38" Type="http://schemas.openxmlformats.org/officeDocument/2006/relationships/font" Target="fonts/font19.fntdata"/><Relationship Id="rId46"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font" Target="fonts/font1.fntdata"/><Relationship Id="rId29" Type="http://schemas.openxmlformats.org/officeDocument/2006/relationships/font" Target="fonts/font10.fntdata"/><Relationship Id="rId41" Type="http://schemas.openxmlformats.org/officeDocument/2006/relationships/font" Target="fonts/font22.fntdata"/><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font" Target="fonts/font5.fntdata"/><Relationship Id="rId32" Type="http://schemas.openxmlformats.org/officeDocument/2006/relationships/font" Target="fonts/font13.fntdata"/><Relationship Id="rId37" Type="http://schemas.openxmlformats.org/officeDocument/2006/relationships/font" Target="fonts/font18.fntdata"/><Relationship Id="rId40" Type="http://schemas.openxmlformats.org/officeDocument/2006/relationships/font" Target="fonts/font21.fntdata"/><Relationship Id="rId45" Type="http://schemas.openxmlformats.org/officeDocument/2006/relationships/tableStyles" Target="tableStyle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font" Target="fonts/font4.fntdata"/><Relationship Id="rId28" Type="http://schemas.openxmlformats.org/officeDocument/2006/relationships/font" Target="fonts/font9.fntdata"/><Relationship Id="rId36" Type="http://schemas.openxmlformats.org/officeDocument/2006/relationships/font" Target="fonts/font17.fntdata"/><Relationship Id="rId10" Type="http://schemas.openxmlformats.org/officeDocument/2006/relationships/slide" Target="slides/slide4.xml"/><Relationship Id="rId19" Type="http://schemas.openxmlformats.org/officeDocument/2006/relationships/notesMaster" Target="notesMasters/notesMaster1.xml"/><Relationship Id="rId31" Type="http://schemas.openxmlformats.org/officeDocument/2006/relationships/font" Target="fonts/font12.fntdata"/><Relationship Id="rId44"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font" Target="fonts/font3.fntdata"/><Relationship Id="rId27" Type="http://schemas.openxmlformats.org/officeDocument/2006/relationships/font" Target="fonts/font8.fntdata"/><Relationship Id="rId30" Type="http://schemas.openxmlformats.org/officeDocument/2006/relationships/font" Target="fonts/font11.fntdata"/><Relationship Id="rId35" Type="http://schemas.openxmlformats.org/officeDocument/2006/relationships/font" Target="fonts/font16.fntdata"/><Relationship Id="rId43"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SCS-INI-NET-VNC-E2E" userId="487bc3e3-9ce7-4cdd-b7b4-8899ea88d289" providerId="ADAL" clId="{EF859C06-2014-4A3D-B5EE-7F03E77ED81E}"/>
    <pc:docChg chg="custSel modSld">
      <pc:chgData name="Graf Thomas, SCS-INI-NET-VNC-E2E" userId="487bc3e3-9ce7-4cdd-b7b4-8899ea88d289" providerId="ADAL" clId="{EF859C06-2014-4A3D-B5EE-7F03E77ED81E}" dt="2025-11-20T06:34:23.945" v="16" actId="1076"/>
      <pc:docMkLst>
        <pc:docMk/>
      </pc:docMkLst>
      <pc:sldChg chg="addSp delSp modSp mod">
        <pc:chgData name="Graf Thomas, SCS-INI-NET-VNC-E2E" userId="487bc3e3-9ce7-4cdd-b7b4-8899ea88d289" providerId="ADAL" clId="{EF859C06-2014-4A3D-B5EE-7F03E77ED81E}" dt="2025-11-20T06:34:08.935" v="13" actId="14100"/>
        <pc:sldMkLst>
          <pc:docMk/>
          <pc:sldMk cId="703495152" sldId="264"/>
        </pc:sldMkLst>
        <pc:picChg chg="add mod">
          <ac:chgData name="Graf Thomas, SCS-INI-NET-VNC-E2E" userId="487bc3e3-9ce7-4cdd-b7b4-8899ea88d289" providerId="ADAL" clId="{EF859C06-2014-4A3D-B5EE-7F03E77ED81E}" dt="2025-11-19T08:35:01.985" v="4" actId="1076"/>
          <ac:picMkLst>
            <pc:docMk/>
            <pc:sldMk cId="703495152" sldId="264"/>
            <ac:picMk id="5" creationId="{7322EFFC-85B1-3D16-4EA1-12868D6A22B5}"/>
          </ac:picMkLst>
        </pc:picChg>
        <pc:picChg chg="add mod">
          <ac:chgData name="Graf Thomas, SCS-INI-NET-VNC-E2E" userId="487bc3e3-9ce7-4cdd-b7b4-8899ea88d289" providerId="ADAL" clId="{EF859C06-2014-4A3D-B5EE-7F03E77ED81E}" dt="2025-11-20T06:34:08.935" v="13" actId="14100"/>
          <ac:picMkLst>
            <pc:docMk/>
            <pc:sldMk cId="703495152" sldId="264"/>
            <ac:picMk id="5" creationId="{FE13A266-D6BB-96B1-57ED-CE4C990DD23D}"/>
          </ac:picMkLst>
        </pc:picChg>
        <pc:picChg chg="del">
          <ac:chgData name="Graf Thomas, SCS-INI-NET-VNC-E2E" userId="487bc3e3-9ce7-4cdd-b7b4-8899ea88d289" providerId="ADAL" clId="{EF859C06-2014-4A3D-B5EE-7F03E77ED81E}" dt="2025-11-19T08:34:56.457" v="0" actId="478"/>
          <ac:picMkLst>
            <pc:docMk/>
            <pc:sldMk cId="703495152" sldId="264"/>
            <ac:picMk id="7" creationId="{8249488F-129E-0F6F-19AF-B00E317A45AF}"/>
          </ac:picMkLst>
        </pc:picChg>
        <pc:picChg chg="del">
          <ac:chgData name="Graf Thomas, SCS-INI-NET-VNC-E2E" userId="487bc3e3-9ce7-4cdd-b7b4-8899ea88d289" providerId="ADAL" clId="{EF859C06-2014-4A3D-B5EE-7F03E77ED81E}" dt="2025-11-20T06:34:01.194" v="8" actId="478"/>
          <ac:picMkLst>
            <pc:docMk/>
            <pc:sldMk cId="703495152" sldId="264"/>
            <ac:picMk id="8" creationId="{502884C6-9465-4AEB-9BC2-CD78EACC725D}"/>
          </ac:picMkLst>
        </pc:picChg>
      </pc:sldChg>
      <pc:sldChg chg="addSp delSp modSp mod">
        <pc:chgData name="Graf Thomas, SCS-INI-NET-VNC-E2E" userId="487bc3e3-9ce7-4cdd-b7b4-8899ea88d289" providerId="ADAL" clId="{EF859C06-2014-4A3D-B5EE-7F03E77ED81E}" dt="2025-11-20T06:34:23.945" v="16" actId="1076"/>
        <pc:sldMkLst>
          <pc:docMk/>
          <pc:sldMk cId="1859012803" sldId="271"/>
        </pc:sldMkLst>
        <pc:picChg chg="add mod">
          <ac:chgData name="Graf Thomas, SCS-INI-NET-VNC-E2E" userId="487bc3e3-9ce7-4cdd-b7b4-8899ea88d289" providerId="ADAL" clId="{EF859C06-2014-4A3D-B5EE-7F03E77ED81E}" dt="2025-11-19T08:35:18.468" v="7" actId="1076"/>
          <ac:picMkLst>
            <pc:docMk/>
            <pc:sldMk cId="1859012803" sldId="271"/>
            <ac:picMk id="5" creationId="{83C9D532-04E5-151D-138D-346CD68EA7AA}"/>
          </ac:picMkLst>
        </pc:picChg>
        <pc:picChg chg="add mod">
          <ac:chgData name="Graf Thomas, SCS-INI-NET-VNC-E2E" userId="487bc3e3-9ce7-4cdd-b7b4-8899ea88d289" providerId="ADAL" clId="{EF859C06-2014-4A3D-B5EE-7F03E77ED81E}" dt="2025-11-20T06:34:23.945" v="16" actId="1076"/>
          <ac:picMkLst>
            <pc:docMk/>
            <pc:sldMk cId="1859012803" sldId="271"/>
            <ac:picMk id="5" creationId="{B4321994-454D-B2E5-927E-C9C98E7AC86A}"/>
          </ac:picMkLst>
        </pc:picChg>
        <pc:picChg chg="del">
          <ac:chgData name="Graf Thomas, SCS-INI-NET-VNC-E2E" userId="487bc3e3-9ce7-4cdd-b7b4-8899ea88d289" providerId="ADAL" clId="{EF859C06-2014-4A3D-B5EE-7F03E77ED81E}" dt="2025-11-19T08:35:15.939" v="5" actId="478"/>
          <ac:picMkLst>
            <pc:docMk/>
            <pc:sldMk cId="1859012803" sldId="271"/>
            <ac:picMk id="8" creationId="{3E80C31F-C4B2-853C-704F-CDF575DEF945}"/>
          </ac:picMkLst>
        </pc:picChg>
        <pc:picChg chg="del">
          <ac:chgData name="Graf Thomas, SCS-INI-NET-VNC-E2E" userId="487bc3e3-9ce7-4cdd-b7b4-8899ea88d289" providerId="ADAL" clId="{EF859C06-2014-4A3D-B5EE-7F03E77ED81E}" dt="2025-11-20T06:34:20.317" v="14" actId="478"/>
          <ac:picMkLst>
            <pc:docMk/>
            <pc:sldMk cId="1859012803" sldId="271"/>
            <ac:picMk id="8" creationId="{D47465AF-3406-405A-9580-5FCC4F76BFC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400" b="0" i="0" u="none" strike="noStrike" cap="none">
                <a:latin typeface="Arial"/>
                <a:ea typeface="Arial"/>
                <a:cs typeface="Arial"/>
                <a:sym typeface="Arial"/>
              </a:defRPr>
            </a:lvl1pPr>
            <a:lvl2pPr marL="914400" marR="0" lvl="1" indent="-228600" algn="l" rtl="0">
              <a:spcBef>
                <a:spcPts val="0"/>
              </a:spcBef>
              <a:spcAft>
                <a:spcPts val="0"/>
              </a:spcAft>
              <a:buSzPts val="1400"/>
              <a:buNone/>
              <a:defRPr sz="1400" b="0" i="0" u="none" strike="noStrike" cap="none">
                <a:latin typeface="Arial"/>
                <a:ea typeface="Arial"/>
                <a:cs typeface="Arial"/>
                <a:sym typeface="Arial"/>
              </a:defRPr>
            </a:lvl2pPr>
            <a:lvl3pPr marL="1371600" marR="0" lvl="2" indent="-228600" algn="l" rtl="0">
              <a:spcBef>
                <a:spcPts val="0"/>
              </a:spcBef>
              <a:spcAft>
                <a:spcPts val="0"/>
              </a:spcAft>
              <a:buSzPts val="1400"/>
              <a:buNone/>
              <a:defRPr sz="1400" b="0" i="0" u="none" strike="noStrike" cap="none">
                <a:latin typeface="Arial"/>
                <a:ea typeface="Arial"/>
                <a:cs typeface="Arial"/>
                <a:sym typeface="Arial"/>
              </a:defRPr>
            </a:lvl3pPr>
            <a:lvl4pPr marL="1828800" marR="0" lvl="3" indent="-228600" algn="l" rtl="0">
              <a:spcBef>
                <a:spcPts val="0"/>
              </a:spcBef>
              <a:spcAft>
                <a:spcPts val="0"/>
              </a:spcAft>
              <a:buSzPts val="1400"/>
              <a:buNone/>
              <a:defRPr sz="1400" b="0" i="0" u="none" strike="noStrike" cap="none">
                <a:latin typeface="Arial"/>
                <a:ea typeface="Arial"/>
                <a:cs typeface="Arial"/>
                <a:sym typeface="Arial"/>
              </a:defRPr>
            </a:lvl4pPr>
            <a:lvl5pPr marL="2286000" marR="0" lvl="4" indent="-228600" algn="l" rtl="0">
              <a:spcBef>
                <a:spcPts val="0"/>
              </a:spcBef>
              <a:spcAft>
                <a:spcPts val="0"/>
              </a:spcAft>
              <a:buSzPts val="1400"/>
              <a:buNone/>
              <a:defRPr sz="1400" b="0" i="0" u="none" strike="noStrike" cap="none">
                <a:latin typeface="Arial"/>
                <a:ea typeface="Arial"/>
                <a:cs typeface="Arial"/>
                <a:sym typeface="Arial"/>
              </a:defRPr>
            </a:lvl5pPr>
            <a:lvl6pPr marL="2743200" marR="0" lvl="5" indent="-228600" algn="l" rtl="0">
              <a:spcBef>
                <a:spcPts val="0"/>
              </a:spcBef>
              <a:spcAft>
                <a:spcPts val="0"/>
              </a:spcAft>
              <a:buSzPts val="1400"/>
              <a:buNone/>
              <a:defRPr sz="1400" b="0" i="0" u="none" strike="noStrike" cap="none">
                <a:latin typeface="Arial"/>
                <a:ea typeface="Arial"/>
                <a:cs typeface="Arial"/>
                <a:sym typeface="Arial"/>
              </a:defRPr>
            </a:lvl6pPr>
            <a:lvl7pPr marL="3200400" marR="0" lvl="6" indent="-228600" algn="l" rtl="0">
              <a:spcBef>
                <a:spcPts val="0"/>
              </a:spcBef>
              <a:spcAft>
                <a:spcPts val="0"/>
              </a:spcAft>
              <a:buSzPts val="1400"/>
              <a:buNone/>
              <a:defRPr sz="1400" b="0" i="0" u="none" strike="noStrike" cap="none">
                <a:latin typeface="Arial"/>
                <a:ea typeface="Arial"/>
                <a:cs typeface="Arial"/>
                <a:sym typeface="Arial"/>
              </a:defRPr>
            </a:lvl7pPr>
            <a:lvl8pPr marL="3657600" marR="0" lvl="7" indent="-228600" algn="l" rtl="0">
              <a:spcBef>
                <a:spcPts val="0"/>
              </a:spcBef>
              <a:spcAft>
                <a:spcPts val="0"/>
              </a:spcAft>
              <a:buSzPts val="1400"/>
              <a:buNone/>
              <a:defRPr sz="1400" b="0" i="0" u="none" strike="noStrike" cap="none">
                <a:latin typeface="Arial"/>
                <a:ea typeface="Arial"/>
                <a:cs typeface="Arial"/>
                <a:sym typeface="Arial"/>
              </a:defRPr>
            </a:lvl8pPr>
            <a:lvl9pPr marL="4114800" marR="0" lvl="8" indent="-228600" algn="l" rtl="0">
              <a:spcBef>
                <a:spcPts val="0"/>
              </a:spcBef>
              <a:spcAft>
                <a:spcPts val="0"/>
              </a:spcAft>
              <a:buSzPts val="1400"/>
              <a:buNone/>
              <a:defRPr sz="1400" b="0" i="0" u="none" strike="noStrike" cap="none">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datatracker.ietf.org/meeting/120/materials/slides-120-eodir-sessb-note-well-dos-and-donts"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 name="Google Shape;97;p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7179d949db_7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 name="Google Shape;67;g7179d949db_7_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sz="1200">
                <a:solidFill>
                  <a:srgbClr val="424242"/>
                </a:solidFill>
                <a:highlight>
                  <a:srgbClr val="FFFFFF"/>
                </a:highlight>
                <a:latin typeface="Roboto"/>
                <a:ea typeface="Roboto"/>
                <a:cs typeface="Roboto"/>
                <a:sym typeface="Roboto"/>
              </a:rPr>
              <a:t>The IETF Note Well should be shown at the start of every IETF working session. The guidance below is </a:t>
            </a:r>
            <a:r>
              <a:rPr lang="en-US" sz="1200" u="sng">
                <a:solidFill>
                  <a:srgbClr val="1976D2"/>
                </a:solidFill>
                <a:latin typeface="Roboto"/>
                <a:ea typeface="Roboto"/>
                <a:cs typeface="Roboto"/>
                <a:sym typeface="Roboto"/>
                <a:hlinkClick r:id="rId3">
                  <a:extLst>
                    <a:ext uri="{A12FA001-AC4F-418D-AE19-62706E023703}">
                      <ahyp:hlinkClr xmlns:ahyp="http://schemas.microsoft.com/office/drawing/2018/hyperlinkcolor" val="tx"/>
                    </a:ext>
                  </a:extLst>
                </a:hlinkClick>
              </a:rPr>
              <a:t>adapted from IETF legal counsel presentation during IETF 120</a:t>
            </a: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None/>
            </a:pP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1B5E20"/>
                </a:solidFill>
                <a:highlight>
                  <a:srgbClr val="E8F5E9"/>
                </a:highlight>
                <a:latin typeface="Roboto"/>
                <a:ea typeface="Roboto"/>
                <a:cs typeface="Roboto"/>
                <a:sym typeface="Roboto"/>
              </a:rPr>
              <a:t>DO</a:t>
            </a:r>
            <a:endParaRPr sz="1200">
              <a:solidFill>
                <a:srgbClr val="1B5E20"/>
              </a:solidFill>
              <a:highlight>
                <a:srgbClr val="E8F5E9"/>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make sure people have enough time to read through the slide before you move on,</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give a high-level summary of what’s covered in the Note Well: “IETF policies on conduct, privacy and IPR.”,</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encourage people to read through all the linked policies &amp; documents in detail before participating or contributing,</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explain where people can direct questions or concerns (IETF Executive Director or Ombudsteam).</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B33F00"/>
                </a:solidFill>
                <a:highlight>
                  <a:srgbClr val="FFF3E0"/>
                </a:highlight>
                <a:latin typeface="Roboto"/>
                <a:ea typeface="Roboto"/>
                <a:cs typeface="Roboto"/>
                <a:sym typeface="Roboto"/>
              </a:rPr>
              <a:t>DON'T</a:t>
            </a:r>
            <a:endParaRPr sz="1200">
              <a:solidFill>
                <a:srgbClr val="B33F00"/>
              </a:solidFill>
              <a:highlight>
                <a:srgbClr val="FFF3E0"/>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dismiss the importance or relevance of any of the information on the Note Well.</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interpret the meaning or get into the substance of any of the topics or content of the policies.</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communicate that the Note Well conveys all the information participants need to know.</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address questions or concerns in the meeting itself.</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endParaRPr sz="1200">
              <a:solidFill>
                <a:srgbClr val="424242"/>
              </a:solidFill>
              <a:latin typeface="Roboto"/>
              <a:ea typeface="Roboto"/>
              <a:cs typeface="Roboto"/>
              <a:sym typeface="Roboto"/>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a9a795ffb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7" name="Google Shape;117;ga9a795ffbb_0_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023046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553377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802205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14236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530033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272043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081084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497547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71a2a6c778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6" name="Google Shape;126;g71a2a6c778_0_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cSld name="TITLE">
    <p:bg>
      <p:bgPr>
        <a:solidFill>
          <a:srgbClr val="002D3C"/>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754464" y="2104950"/>
            <a:ext cx="7635072" cy="933600"/>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4200"/>
              <a:buFont typeface="Inter"/>
              <a:buNone/>
              <a:defRPr sz="4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1" name="Google Shape;11;p2"/>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1pPr>
            <a:lvl2pPr marL="0" marR="0" lvl="1"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2pPr>
            <a:lvl3pPr marL="0" marR="0" lvl="2"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3pPr>
            <a:lvl4pPr marL="0" marR="0" lvl="3"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4pPr>
            <a:lvl5pPr marL="0" marR="0" lvl="4"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5pPr>
            <a:lvl6pPr marL="0" marR="0" lvl="5"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6pPr>
            <a:lvl7pPr marL="0" marR="0" lvl="6"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7pPr>
            <a:lvl8pPr marL="0" marR="0" lvl="7"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8pPr>
            <a:lvl9pPr marL="0" marR="0" lvl="8"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2" name="Google Shape;12;p2"/>
          <p:cNvSpPr/>
          <p:nvPr/>
        </p:nvSpPr>
        <p:spPr>
          <a:xfrm>
            <a:off x="-125" y="4147975"/>
            <a:ext cx="9144001" cy="995701"/>
          </a:xfrm>
          <a:prstGeom prst="rect">
            <a:avLst/>
          </a:prstGeom>
          <a:solidFill>
            <a:srgbClr val="FFFFFF"/>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pic>
        <p:nvPicPr>
          <p:cNvPr id="13" name="Google Shape;13;p2" descr="Shape 14"/>
          <p:cNvPicPr preferRelativeResize="0"/>
          <p:nvPr/>
        </p:nvPicPr>
        <p:blipFill rotWithShape="1">
          <a:blip r:embed="rId2">
            <a:alphaModFix/>
          </a:blip>
          <a:srcRect/>
          <a:stretch/>
        </p:blipFill>
        <p:spPr>
          <a:xfrm>
            <a:off x="7440438" y="4312261"/>
            <a:ext cx="1256176" cy="66712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_AND_BODY" type="tx">
  <p:cSld name="TITLE_AND_BODY">
    <p:bg>
      <p:bgPr>
        <a:solidFill>
          <a:srgbClr val="002D3C"/>
        </a:solidFill>
        <a:effectLst/>
      </p:bgPr>
    </p:bg>
    <p:spTree>
      <p:nvGrpSpPr>
        <p:cNvPr id="1" name="Shape 14"/>
        <p:cNvGrpSpPr/>
        <p:nvPr/>
      </p:nvGrpSpPr>
      <p:grpSpPr>
        <a:xfrm>
          <a:off x="0" y="0"/>
          <a:ext cx="0" cy="0"/>
          <a:chOff x="0" y="0"/>
          <a:chExt cx="0" cy="0"/>
        </a:xfrm>
      </p:grpSpPr>
      <p:sp>
        <p:nvSpPr>
          <p:cNvPr id="15" name="Google Shape;15;p3"/>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6" name="Google Shape;16;p3"/>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7" name="Google Shape;17;p3"/>
          <p:cNvSpPr txBox="1">
            <a:spLocks noGrp="1"/>
          </p:cNvSpPr>
          <p:nvPr>
            <p:ph type="title"/>
          </p:nvPr>
        </p:nvSpPr>
        <p:spPr>
          <a:xfrm>
            <a:off x="471900" y="218223"/>
            <a:ext cx="8222100" cy="1288203"/>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600"/>
              <a:buFont typeface="Inter"/>
              <a:buNone/>
              <a:defRPr sz="36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8" name="Google Shape;18;p3"/>
          <p:cNvSpPr txBox="1">
            <a:spLocks noGrp="1"/>
          </p:cNvSpPr>
          <p:nvPr>
            <p:ph type="body" idx="1"/>
          </p:nvPr>
        </p:nvSpPr>
        <p:spPr>
          <a:xfrm>
            <a:off x="471900" y="1919074"/>
            <a:ext cx="8222100"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19" name="Google Shape;19;p3"/>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1620">
          <p15:clr>
            <a:srgbClr val="F9AD4C"/>
          </p15:clr>
        </p15:guide>
        <p15:guide id="2" pos="2880">
          <p15:clr>
            <a:srgbClr val="F9AD4C"/>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_HEADER" type="secHead">
  <p:cSld name="SECTION_HEADER">
    <p:bg>
      <p:bgPr>
        <a:solidFill>
          <a:srgbClr val="002D3C"/>
        </a:solidFill>
        <a:effectLst/>
      </p:bgPr>
    </p:bg>
    <p:spTree>
      <p:nvGrpSpPr>
        <p:cNvPr id="1" name="Shape 20"/>
        <p:cNvGrpSpPr/>
        <p:nvPr/>
      </p:nvGrpSpPr>
      <p:grpSpPr>
        <a:xfrm>
          <a:off x="0" y="0"/>
          <a:ext cx="0" cy="0"/>
          <a:chOff x="0" y="0"/>
          <a:chExt cx="0" cy="0"/>
        </a:xfrm>
      </p:grpSpPr>
      <p:sp>
        <p:nvSpPr>
          <p:cNvPr id="21" name="Google Shape;21;p4"/>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1pPr>
            <a:lvl2pPr marL="0" marR="0" lvl="1"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2pPr>
            <a:lvl3pPr marL="0" marR="0" lvl="2"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3pPr>
            <a:lvl4pPr marL="0" marR="0" lvl="3"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4pPr>
            <a:lvl5pPr marL="0" marR="0" lvl="4"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5pPr>
            <a:lvl6pPr marL="0" marR="0" lvl="5"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6pPr>
            <a:lvl7pPr marL="0" marR="0" lvl="6"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7pPr>
            <a:lvl8pPr marL="0" marR="0" lvl="7"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8pPr>
            <a:lvl9pPr marL="0" marR="0" lvl="8"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_AND_TWO_COLUMNS" type="twoColTx">
  <p:cSld name="TITLE_AND_TWO_COLUMNS">
    <p:bg>
      <p:bgPr>
        <a:solidFill>
          <a:srgbClr val="002D3C"/>
        </a:solidFill>
        <a:effectLst/>
      </p:bgPr>
    </p:bg>
    <p:spTree>
      <p:nvGrpSpPr>
        <p:cNvPr id="1" name="Shape 22"/>
        <p:cNvGrpSpPr/>
        <p:nvPr/>
      </p:nvGrpSpPr>
      <p:grpSpPr>
        <a:xfrm>
          <a:off x="0" y="0"/>
          <a:ext cx="0" cy="0"/>
          <a:chOff x="0" y="0"/>
          <a:chExt cx="0" cy="0"/>
        </a:xfrm>
      </p:grpSpPr>
      <p:sp>
        <p:nvSpPr>
          <p:cNvPr id="23" name="Google Shape;23;p5"/>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4" name="Google Shape;24;p5"/>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5" name="Google Shape;25;p5"/>
          <p:cNvSpPr txBox="1">
            <a:spLocks noGrp="1"/>
          </p:cNvSpPr>
          <p:nvPr>
            <p:ph type="title"/>
          </p:nvPr>
        </p:nvSpPr>
        <p:spPr>
          <a:xfrm>
            <a:off x="471900" y="738725"/>
            <a:ext cx="8222100" cy="767701"/>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26" name="Google Shape;26;p5"/>
          <p:cNvSpPr txBox="1">
            <a:spLocks noGrp="1"/>
          </p:cNvSpPr>
          <p:nvPr>
            <p:ph type="body" idx="1"/>
          </p:nvPr>
        </p:nvSpPr>
        <p:spPr>
          <a:xfrm>
            <a:off x="471900" y="1919074"/>
            <a:ext cx="3999901" cy="2710201"/>
          </a:xfrm>
          <a:prstGeom prst="rect">
            <a:avLst/>
          </a:prstGeom>
          <a:noFill/>
          <a:ln>
            <a:noFill/>
          </a:ln>
        </p:spPr>
        <p:txBody>
          <a:bodyPr spcFirstLastPara="1" wrap="square" lIns="91400" tIns="91400" rIns="91400" bIns="91400" anchor="t" anchorCtr="0">
            <a:noAutofit/>
          </a:bodyPr>
          <a:lstStyle>
            <a:lvl1pPr marL="457200" marR="0" lvl="0"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1pPr>
            <a:lvl2pPr marL="914400" marR="0" lvl="1"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2pPr>
            <a:lvl3pPr marL="1371600" marR="0" lvl="2"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3pPr>
            <a:lvl4pPr marL="1828800" marR="0" lvl="3"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4pPr>
            <a:lvl5pPr marL="2286000" marR="0" lvl="4"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7" name="Google Shape;27;p5"/>
          <p:cNvSpPr txBox="1">
            <a:spLocks noGrp="1"/>
          </p:cNvSpPr>
          <p:nvPr>
            <p:ph type="body" idx="2"/>
          </p:nvPr>
        </p:nvSpPr>
        <p:spPr>
          <a:xfrm>
            <a:off x="4694249" y="1919074"/>
            <a:ext cx="3999901"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1pPr>
            <a:lvl2pPr marL="914400" marR="0" lvl="1"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2pPr>
            <a:lvl3pPr marL="1371600" marR="0" lvl="2"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3pPr>
            <a:lvl4pPr marL="1828800" marR="0" lvl="3"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4pPr>
            <a:lvl5pPr marL="2286000" marR="0" lvl="4"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8" name="Google Shape;28;p5"/>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hin title" type="titleOnly">
  <p:cSld name="TITLE_ONLY">
    <p:bg>
      <p:bgPr>
        <a:solidFill>
          <a:srgbClr val="002D3C"/>
        </a:solidFill>
        <a:effectLst/>
      </p:bgPr>
    </p:bg>
    <p:spTree>
      <p:nvGrpSpPr>
        <p:cNvPr id="1" name="Shape 29"/>
        <p:cNvGrpSpPr/>
        <p:nvPr/>
      </p:nvGrpSpPr>
      <p:grpSpPr>
        <a:xfrm>
          <a:off x="0" y="0"/>
          <a:ext cx="0" cy="0"/>
          <a:chOff x="0" y="0"/>
          <a:chExt cx="0" cy="0"/>
        </a:xfrm>
      </p:grpSpPr>
      <p:sp>
        <p:nvSpPr>
          <p:cNvPr id="30" name="Google Shape;30;p6"/>
          <p:cNvSpPr/>
          <p:nvPr/>
        </p:nvSpPr>
        <p:spPr>
          <a:xfrm rot="10800000" flipH="1">
            <a:off x="0" y="770474"/>
            <a:ext cx="9144000" cy="43803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31" name="Google Shape;31;p6"/>
          <p:cNvSpPr txBox="1">
            <a:spLocks noGrp="1"/>
          </p:cNvSpPr>
          <p:nvPr>
            <p:ph type="title"/>
          </p:nvPr>
        </p:nvSpPr>
        <p:spPr>
          <a:xfrm>
            <a:off x="158699" y="61427"/>
            <a:ext cx="8826600" cy="602700"/>
          </a:xfrm>
          <a:prstGeom prst="rect">
            <a:avLst/>
          </a:prstGeom>
          <a:noFill/>
          <a:ln>
            <a:noFill/>
          </a:ln>
        </p:spPr>
        <p:txBody>
          <a:bodyPr spcFirstLastPara="1" wrap="square" lIns="91400" tIns="91400" rIns="91400" bIns="91400" anchor="ctr" anchorCtr="0">
            <a:noAutofit/>
          </a:bodyPr>
          <a:lstStyle>
            <a:lvl1pPr marR="0" lvl="0" algn="l" rtl="0">
              <a:lnSpc>
                <a:spcPct val="100000"/>
              </a:lnSpc>
              <a:spcBef>
                <a:spcPts val="0"/>
              </a:spcBef>
              <a:spcAft>
                <a:spcPts val="0"/>
              </a:spcAft>
              <a:buClr>
                <a:srgbClr val="FFFFFF"/>
              </a:buClr>
              <a:buSzPts val="2400"/>
              <a:buFont typeface="Inter"/>
              <a:buNone/>
              <a:defRPr sz="24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32" name="Google Shape;32;p6"/>
          <p:cNvSpPr txBox="1">
            <a:spLocks noGrp="1"/>
          </p:cNvSpPr>
          <p:nvPr>
            <p:ph type="body" idx="1"/>
          </p:nvPr>
        </p:nvSpPr>
        <p:spPr>
          <a:xfrm>
            <a:off x="460950" y="1001775"/>
            <a:ext cx="8222100" cy="376530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33" name="Google Shape;33;p6"/>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matchingName="BLANK" type="blank">
  <p:cSld name="BLANK">
    <p:spTree>
      <p:nvGrpSpPr>
        <p:cNvPr id="1" name="Shape 34"/>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9"/>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9"/>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9"/>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43" name="Google Shape;43;p9"/>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44" name="Google Shape;44;p9"/>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45"/>
        <p:cNvGrpSpPr/>
        <p:nvPr/>
      </p:nvGrpSpPr>
      <p:grpSpPr>
        <a:xfrm>
          <a:off x="0" y="0"/>
          <a:ext cx="0" cy="0"/>
          <a:chOff x="0" y="0"/>
          <a:chExt cx="0" cy="0"/>
        </a:xfrm>
      </p:grpSpPr>
      <p:sp>
        <p:nvSpPr>
          <p:cNvPr id="46" name="Google Shape;46;p10"/>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47" name="Google Shape;47;p10"/>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48" name="Google Shape;48;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49" name="Google Shape;49;p10"/>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0" name="Google Shape;50;p10"/>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51" name="Google Shape;51;p10"/>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52"/>
        <p:cNvGrpSpPr/>
        <p:nvPr/>
      </p:nvGrpSpPr>
      <p:grpSpPr>
        <a:xfrm>
          <a:off x="0" y="0"/>
          <a:ext cx="0" cy="0"/>
          <a:chOff x="0" y="0"/>
          <a:chExt cx="0" cy="0"/>
        </a:xfrm>
      </p:grpSpPr>
      <p:sp>
        <p:nvSpPr>
          <p:cNvPr id="53" name="Google Shape;53;p11"/>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 name="Google Shape;54;p11"/>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 name="Google Shape;55;p1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56" name="Google Shape;56;p11"/>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57" name="Google Shape;57;p11"/>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58" name="Google Shape;58;p11"/>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9"/>
        <p:cNvGrpSpPr/>
        <p:nvPr/>
      </p:nvGrpSpPr>
      <p:grpSpPr>
        <a:xfrm>
          <a:off x="0" y="0"/>
          <a:ext cx="0" cy="0"/>
          <a:chOff x="0" y="0"/>
          <a:chExt cx="0" cy="0"/>
        </a:xfrm>
      </p:grpSpPr>
      <p:sp>
        <p:nvSpPr>
          <p:cNvPr id="60" name="Google Shape;60;p12"/>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61" name="Google Shape;61;p12"/>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2"/>
        <p:cNvGrpSpPr/>
        <p:nvPr/>
      </p:nvGrpSpPr>
      <p:grpSpPr>
        <a:xfrm>
          <a:off x="0" y="0"/>
          <a:ext cx="0" cy="0"/>
          <a:chOff x="0" y="0"/>
          <a:chExt cx="0" cy="0"/>
        </a:xfrm>
      </p:grpSpPr>
      <p:sp>
        <p:nvSpPr>
          <p:cNvPr id="63" name="Google Shape;63;p13"/>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 name="Google Shape;64;p13"/>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 name="Google Shape;65;p13"/>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66" name="Google Shape;66;p13"/>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7" name="Google Shape;67;p13"/>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8" name="Google Shape;68;p13"/>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69" name="Google Shape;69;p13"/>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0"/>
        <p:cNvGrpSpPr/>
        <p:nvPr/>
      </p:nvGrpSpPr>
      <p:grpSpPr>
        <a:xfrm>
          <a:off x="0" y="0"/>
          <a:ext cx="0" cy="0"/>
          <a:chOff x="0" y="0"/>
          <a:chExt cx="0" cy="0"/>
        </a:xfrm>
      </p:grpSpPr>
      <p:sp>
        <p:nvSpPr>
          <p:cNvPr id="71" name="Google Shape;71;p14"/>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 name="Google Shape;72;p14"/>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3" name="Google Shape;73;p14"/>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74" name="Google Shape;74;p14"/>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75" name="Google Shape;75;p14"/>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6"/>
        <p:cNvGrpSpPr/>
        <p:nvPr/>
      </p:nvGrpSpPr>
      <p:grpSpPr>
        <a:xfrm>
          <a:off x="0" y="0"/>
          <a:ext cx="0" cy="0"/>
          <a:chOff x="0" y="0"/>
          <a:chExt cx="0" cy="0"/>
        </a:xfrm>
      </p:grpSpPr>
      <p:sp>
        <p:nvSpPr>
          <p:cNvPr id="77" name="Google Shape;77;p15"/>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78" name="Google Shape;78;p1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9"/>
        <p:cNvGrpSpPr/>
        <p:nvPr/>
      </p:nvGrpSpPr>
      <p:grpSpPr>
        <a:xfrm>
          <a:off x="0" y="0"/>
          <a:ext cx="0" cy="0"/>
          <a:chOff x="0" y="0"/>
          <a:chExt cx="0" cy="0"/>
        </a:xfrm>
      </p:grpSpPr>
      <p:sp>
        <p:nvSpPr>
          <p:cNvPr id="80" name="Google Shape;80;p16"/>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83" name="Google Shape;83;p16"/>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84" name="Google Shape;84;p16"/>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85" name="Google Shape;85;p16"/>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
        <p:cNvGrpSpPr/>
        <p:nvPr/>
      </p:nvGrpSpPr>
      <p:grpSpPr>
        <a:xfrm>
          <a:off x="0" y="0"/>
          <a:ext cx="0" cy="0"/>
          <a:chOff x="0" y="0"/>
          <a:chExt cx="0" cy="0"/>
        </a:xfrm>
      </p:grpSpPr>
      <p:sp>
        <p:nvSpPr>
          <p:cNvPr id="87" name="Google Shape;87;p17"/>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7"/>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7"/>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90" name="Google Shape;90;p1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accent4"/>
        </a:solidFill>
        <a:effectLst/>
      </p:bgPr>
    </p:bg>
    <p:spTree>
      <p:nvGrpSpPr>
        <p:cNvPr id="1" name="Shape 91"/>
        <p:cNvGrpSpPr/>
        <p:nvPr/>
      </p:nvGrpSpPr>
      <p:grpSpPr>
        <a:xfrm>
          <a:off x="0" y="0"/>
          <a:ext cx="0" cy="0"/>
          <a:chOff x="0" y="0"/>
          <a:chExt cx="0" cy="0"/>
        </a:xfrm>
      </p:grpSpPr>
      <p:sp>
        <p:nvSpPr>
          <p:cNvPr id="92" name="Google Shape;92;p18"/>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93" name="Google Shape;93;p18"/>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94" name="Google Shape;94;p1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9"/>
        <p:cNvGrpSpPr/>
        <p:nvPr/>
      </p:nvGrpSpPr>
      <p:grpSpPr>
        <a:xfrm>
          <a:off x="0" y="0"/>
          <a:ext cx="0" cy="0"/>
          <a:chOff x="0" y="0"/>
          <a:chExt cx="0" cy="0"/>
        </a:xfrm>
      </p:grpSpPr>
      <p:sp>
        <p:nvSpPr>
          <p:cNvPr id="10" name="Google Shape;10;p2"/>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 name="Google Shape;11;p2"/>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 name="Google Shape;12;p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13" name="Google Shape;13;p2"/>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14" name="Google Shape;14;p2"/>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extLst>
      <p:ext uri="{BB962C8B-B14F-4D97-AF65-F5344CB8AC3E}">
        <p14:creationId xmlns:p14="http://schemas.microsoft.com/office/powerpoint/2010/main" val="1595141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17" name="Google Shape;17;p3"/>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18" name="Google Shape;18;p3"/>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9" name="Google Shape;19;p3"/>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0" name="Google Shape;20;p3"/>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21" name="Google Shape;21;p3"/>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extLst>
      <p:ext uri="{BB962C8B-B14F-4D97-AF65-F5344CB8AC3E}">
        <p14:creationId xmlns:p14="http://schemas.microsoft.com/office/powerpoint/2010/main" val="40747761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2"/>
        <p:cNvGrpSpPr/>
        <p:nvPr/>
      </p:nvGrpSpPr>
      <p:grpSpPr>
        <a:xfrm>
          <a:off x="0" y="0"/>
          <a:ext cx="0" cy="0"/>
          <a:chOff x="0" y="0"/>
          <a:chExt cx="0" cy="0"/>
        </a:xfrm>
      </p:grpSpPr>
      <p:sp>
        <p:nvSpPr>
          <p:cNvPr id="23" name="Google Shape;23;p4"/>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 name="Google Shape;24;p4"/>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 name="Google Shape;25;p4"/>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26" name="Google Shape;26;p4"/>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27" name="Google Shape;27;p4"/>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28" name="Google Shape;28;p4"/>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297045592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31" name="Google Shape;31;p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99151437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2"/>
        <p:cNvGrpSpPr/>
        <p:nvPr/>
      </p:nvGrpSpPr>
      <p:grpSpPr>
        <a:xfrm>
          <a:off x="0" y="0"/>
          <a:ext cx="0" cy="0"/>
          <a:chOff x="0" y="0"/>
          <a:chExt cx="0" cy="0"/>
        </a:xfrm>
      </p:grpSpPr>
      <p:sp>
        <p:nvSpPr>
          <p:cNvPr id="33" name="Google Shape;33;p6"/>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4" name="Google Shape;34;p6"/>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5" name="Google Shape;35;p6"/>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6" name="Google Shape;36;p6"/>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37" name="Google Shape;37;p6"/>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38" name="Google Shape;38;p6"/>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39" name="Google Shape;39;p6"/>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372709034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0"/>
        <p:cNvGrpSpPr/>
        <p:nvPr/>
      </p:nvGrpSpPr>
      <p:grpSpPr>
        <a:xfrm>
          <a:off x="0" y="0"/>
          <a:ext cx="0" cy="0"/>
          <a:chOff x="0" y="0"/>
          <a:chExt cx="0" cy="0"/>
        </a:xfrm>
      </p:grpSpPr>
      <p:sp>
        <p:nvSpPr>
          <p:cNvPr id="41" name="Google Shape;41;p7"/>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7"/>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3" name="Google Shape;43;p7"/>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44" name="Google Shape;44;p7"/>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45" name="Google Shape;45;p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41215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46"/>
        <p:cNvGrpSpPr/>
        <p:nvPr/>
      </p:nvGrpSpPr>
      <p:grpSpPr>
        <a:xfrm>
          <a:off x="0" y="0"/>
          <a:ext cx="0" cy="0"/>
          <a:chOff x="0" y="0"/>
          <a:chExt cx="0" cy="0"/>
        </a:xfrm>
      </p:grpSpPr>
      <p:sp>
        <p:nvSpPr>
          <p:cNvPr id="47" name="Google Shape;47;p8"/>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48" name="Google Shape;4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66496351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9"/>
        <p:cNvGrpSpPr/>
        <p:nvPr/>
      </p:nvGrpSpPr>
      <p:grpSpPr>
        <a:xfrm>
          <a:off x="0" y="0"/>
          <a:ext cx="0" cy="0"/>
          <a:chOff x="0" y="0"/>
          <a:chExt cx="0" cy="0"/>
        </a:xfrm>
      </p:grpSpPr>
      <p:sp>
        <p:nvSpPr>
          <p:cNvPr id="50" name="Google Shape;50;p9"/>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 name="Google Shape;51;p9"/>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 name="Google Shape;52;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53" name="Google Shape;53;p9"/>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54" name="Google Shape;54;p9"/>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55" name="Google Shape;55;p9"/>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0228340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6"/>
        <p:cNvGrpSpPr/>
        <p:nvPr/>
      </p:nvGrpSpPr>
      <p:grpSpPr>
        <a:xfrm>
          <a:off x="0" y="0"/>
          <a:ext cx="0" cy="0"/>
          <a:chOff x="0" y="0"/>
          <a:chExt cx="0" cy="0"/>
        </a:xfrm>
      </p:grpSpPr>
      <p:sp>
        <p:nvSpPr>
          <p:cNvPr id="57" name="Google Shape;57;p10"/>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10"/>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 name="Google Shape;59;p10"/>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60" name="Google Shape;60;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56432489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ig number">
  <p:cSld name="Big number">
    <p:bg>
      <p:bgPr>
        <a:solidFill>
          <a:schemeClr val="accent4"/>
        </a:solidFill>
        <a:effectLst/>
      </p:bgPr>
    </p:bg>
    <p:spTree>
      <p:nvGrpSpPr>
        <p:cNvPr id="1" name="Shape 61"/>
        <p:cNvGrpSpPr/>
        <p:nvPr/>
      </p:nvGrpSpPr>
      <p:grpSpPr>
        <a:xfrm>
          <a:off x="0" y="0"/>
          <a:ext cx="0" cy="0"/>
          <a:chOff x="0" y="0"/>
          <a:chExt cx="0" cy="0"/>
        </a:xfrm>
      </p:grpSpPr>
      <p:sp>
        <p:nvSpPr>
          <p:cNvPr id="62" name="Google Shape;62;p11"/>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63" name="Google Shape;63;p11"/>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64" name="Google Shape;64;p11"/>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5552903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4.xml"/><Relationship Id="rId3" Type="http://schemas.openxmlformats.org/officeDocument/2006/relationships/slideLayout" Target="../slideLayouts/slideLayout9.xml"/><Relationship Id="rId7" Type="http://schemas.openxmlformats.org/officeDocument/2006/relationships/slideLayout" Target="../slideLayouts/slideLayout1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theme" Target="../theme/theme2.xml"/><Relationship Id="rId5" Type="http://schemas.openxmlformats.org/officeDocument/2006/relationships/slideLayout" Target="../slideLayouts/slideLayout11.xml"/><Relationship Id="rId10" Type="http://schemas.openxmlformats.org/officeDocument/2006/relationships/slideLayout" Target="../slideLayouts/slideLayout16.xml"/><Relationship Id="rId4" Type="http://schemas.openxmlformats.org/officeDocument/2006/relationships/slideLayout" Target="../slideLayouts/slideLayout10.xml"/><Relationship Id="rId9" Type="http://schemas.openxmlformats.org/officeDocument/2006/relationships/slideLayout" Target="../slideLayouts/slideLayout1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theme" Target="../theme/theme3.xml"/><Relationship Id="rId5" Type="http://schemas.openxmlformats.org/officeDocument/2006/relationships/slideLayout" Target="../slideLayouts/slideLayout21.xml"/><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1pPr>
            <a:lvl2pPr marL="0" marR="0" lvl="1"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2pPr>
            <a:lvl3pPr marL="0" marR="0" lvl="2"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3pPr>
            <a:lvl4pPr marL="0" marR="0" lvl="3"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4pPr>
            <a:lvl5pPr marL="0" marR="0" lvl="4"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5pPr>
            <a:lvl6pPr marL="0" marR="0" lvl="5"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6pPr>
            <a:lvl7pPr marL="0" marR="0" lvl="6"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7pPr>
            <a:lvl8pPr marL="0" marR="0" lvl="7"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8pPr>
            <a:lvl9pPr marL="0" marR="0" lvl="8"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US"/>
              <a:t>‹#›</a:t>
            </a:fld>
            <a:endParaRPr/>
          </a:p>
        </p:txBody>
      </p:sp>
      <p:sp>
        <p:nvSpPr>
          <p:cNvPr id="7" name="Google Shape;7;p1"/>
          <p:cNvSpPr txBox="1">
            <a:spLocks noGrp="1"/>
          </p:cNvSpPr>
          <p:nvPr>
            <p:ph type="title"/>
          </p:nvPr>
        </p:nvSpPr>
        <p:spPr>
          <a:xfrm>
            <a:off x="457200" y="0"/>
            <a:ext cx="8229600" cy="1063229"/>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1pPr>
            <a:lvl2pPr marR="0" lvl="1"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2pPr>
            <a:lvl3pPr marR="0" lvl="2"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3pPr>
            <a:lvl4pPr marR="0" lvl="3"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4pPr>
            <a:lvl5pPr marR="0" lvl="4"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5pPr>
            <a:lvl6pPr marR="0" lvl="5"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6pPr>
            <a:lvl7pPr marR="0" lvl="6"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7pPr>
            <a:lvl8pPr marR="0" lvl="7"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8pPr>
            <a:lvl9pPr marR="0" lvl="8"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9pPr>
          </a:lstStyle>
          <a:p>
            <a:endParaRPr/>
          </a:p>
        </p:txBody>
      </p:sp>
      <p:sp>
        <p:nvSpPr>
          <p:cNvPr id="8" name="Google Shape;8;p1"/>
          <p:cNvSpPr txBox="1">
            <a:spLocks noGrp="1"/>
          </p:cNvSpPr>
          <p:nvPr>
            <p:ph type="body" idx="1"/>
          </p:nvPr>
        </p:nvSpPr>
        <p:spPr>
          <a:xfrm>
            <a:off x="457200" y="1200150"/>
            <a:ext cx="8229600" cy="394335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1pPr>
            <a:lvl2pPr marL="914400" marR="0" lvl="1"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2pPr>
            <a:lvl3pPr marL="1371600" marR="0" lvl="2"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3pPr>
            <a:lvl4pPr marL="1828800" marR="0" lvl="3"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4pPr>
            <a:lvl5pPr marL="2286000" marR="0" lvl="4"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5pPr>
            <a:lvl6pPr marL="2743200" marR="0" lvl="5"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6pPr>
            <a:lvl7pPr marL="3200400" marR="0" lvl="6"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7pPr>
            <a:lvl8pPr marL="3657600" marR="0" lvl="7"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8pPr>
            <a:lvl9pPr marL="4114800" marR="0" lvl="8"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terial">
    <p:bg>
      <p:bgPr>
        <a:solidFill>
          <a:srgbClr val="002D3C"/>
        </a:solidFill>
        <a:effectLst/>
      </p:bgPr>
    </p:bg>
    <p:spTree>
      <p:nvGrpSpPr>
        <p:cNvPr id="1" name="Shape 35"/>
        <p:cNvGrpSpPr/>
        <p:nvPr/>
      </p:nvGrpSpPr>
      <p:grpSpPr>
        <a:xfrm>
          <a:off x="0" y="0"/>
          <a:ext cx="0" cy="0"/>
          <a:chOff x="0" y="0"/>
          <a:chExt cx="0" cy="0"/>
        </a:xfrm>
      </p:grpSpPr>
      <p:sp>
        <p:nvSpPr>
          <p:cNvPr id="36" name="Google Shape;36;p8"/>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7" name="Google Shape;37;p8"/>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38" name="Google Shape;3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002D3C"/>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7" name="Google Shape;7;p1"/>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8" name="Google Shape;8;p1"/>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7879677"/>
      </p:ext>
    </p:extLst>
  </p:cSld>
  <p:clrMap bg1="lt1" tx1="dk1" bg2="dk2" tx2="lt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datatracker.ietf.org/group/bmwg/about/"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hyperlink" Target="https://datatracker.ietf.org/group/ippm/about/" TargetMode="External"/><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notes.ietf.org/notes-ietf-interim-2025-ippm-01-ippm"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hyperlink" Target="https://datatracker.ietf.org/doc/html/draft-ietf-ippm-asymmetrical-pkts" TargetMode="External"/><Relationship Id="rId3" Type="http://schemas.openxmlformats.org/officeDocument/2006/relationships/hyperlink" Target="https://datatracker.ietf.org/doc/draft-ietf-bmwg-mlrsearch/" TargetMode="External"/><Relationship Id="rId7" Type="http://schemas.openxmlformats.org/officeDocument/2006/relationships/hyperlink" Target="https://datatracker.ietf.org/doc/html/draft-ietf-ippm-capacity-protocol"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hyperlink" Target="https://datatracker.ietf.org/doc/draft-ietf-bmwg-powerbench/" TargetMode="External"/><Relationship Id="rId11" Type="http://schemas.openxmlformats.org/officeDocument/2006/relationships/hyperlink" Target="https://datatracker.ietf.org/doc/html/draft-iuzh-ippm-ioam-integrity-yang" TargetMode="External"/><Relationship Id="rId5" Type="http://schemas.openxmlformats.org/officeDocument/2006/relationships/hyperlink" Target="https://datatracker.ietf.org/doc/draft-ietf-bmwg-sr-bench-meth/" TargetMode="External"/><Relationship Id="rId10" Type="http://schemas.openxmlformats.org/officeDocument/2006/relationships/hyperlink" Target="https://datatracker.ietf.org/doc/html/draft-ietf-ippm-qoo" TargetMode="External"/><Relationship Id="rId4" Type="http://schemas.openxmlformats.org/officeDocument/2006/relationships/hyperlink" Target="https://datatracker.ietf.org/doc/draft-ietf-bmwg-network-tester-cfg/" TargetMode="External"/><Relationship Id="rId9" Type="http://schemas.openxmlformats.org/officeDocument/2006/relationships/hyperlink" Target="https://datatracker.ietf.org/doc/html/draft-ietf-ippm-hybrid-two-step"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www.ietf.org/how/meetings/preparation"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hyperlink" Target="http://www.ietf.org/how/meetings/issue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9"/>
          <p:cNvSpPr txBox="1">
            <a:spLocks noGrp="1"/>
          </p:cNvSpPr>
          <p:nvPr>
            <p:ph type="title"/>
          </p:nvPr>
        </p:nvSpPr>
        <p:spPr>
          <a:xfrm>
            <a:off x="754464" y="2104950"/>
            <a:ext cx="7635000" cy="933600"/>
          </a:xfrm>
          <a:prstGeom prst="rect">
            <a:avLst/>
          </a:prstGeom>
          <a:noFill/>
          <a:ln>
            <a:noFill/>
          </a:ln>
        </p:spPr>
        <p:txBody>
          <a:bodyPr spcFirstLastPara="1" wrap="square" lIns="91400" tIns="91400" rIns="91400" bIns="91400" anchor="b" anchorCtr="0">
            <a:noAutofit/>
          </a:bodyPr>
          <a:lstStyle/>
          <a:p>
            <a:pPr lvl="0"/>
            <a:r>
              <a:rPr lang="en-US" sz="3600" dirty="0">
                <a:latin typeface="Inter"/>
                <a:ea typeface="Inter"/>
                <a:cs typeface="Inter"/>
                <a:sym typeface="Inter"/>
              </a:rPr>
              <a:t>BMWG &amp; IPPM</a:t>
            </a:r>
            <a:r>
              <a:rPr lang="en-US" sz="3600" dirty="0"/>
              <a:t> interim-2025-01</a:t>
            </a:r>
            <a:endParaRPr lang="en-US" sz="3600" dirty="0">
              <a:latin typeface="Inter"/>
              <a:ea typeface="Inter"/>
              <a:cs typeface="Inter"/>
              <a:sym typeface="Inter"/>
            </a:endParaRPr>
          </a:p>
        </p:txBody>
      </p:sp>
      <p:sp>
        <p:nvSpPr>
          <p:cNvPr id="100" name="Google Shape;100;p19"/>
          <p:cNvSpPr txBox="1"/>
          <p:nvPr/>
        </p:nvSpPr>
        <p:spPr>
          <a:xfrm>
            <a:off x="754475" y="1465800"/>
            <a:ext cx="4986900" cy="522900"/>
          </a:xfrm>
          <a:prstGeom prst="rect">
            <a:avLst/>
          </a:prstGeom>
          <a:noFill/>
          <a:ln>
            <a:noFill/>
          </a:ln>
        </p:spPr>
        <p:txBody>
          <a:bodyPr spcFirstLastPara="1" wrap="square" lIns="91400" tIns="91400" rIns="91400" bIns="91400" anchor="t" anchorCtr="0">
            <a:noAutofit/>
          </a:bodyPr>
          <a:lstStyle/>
          <a:p>
            <a:pPr marL="0" marR="0" lvl="0" indent="0" algn="l" rtl="0">
              <a:lnSpc>
                <a:spcPct val="100000"/>
              </a:lnSpc>
              <a:spcBef>
                <a:spcPts val="0"/>
              </a:spcBef>
              <a:spcAft>
                <a:spcPts val="0"/>
              </a:spcAft>
              <a:buClr>
                <a:srgbClr val="FFFFFF"/>
              </a:buClr>
              <a:buSzPts val="2400"/>
              <a:buFont typeface="Montserrat"/>
              <a:buNone/>
            </a:pPr>
            <a:r>
              <a:rPr lang="en-US" sz="2100" dirty="0">
                <a:solidFill>
                  <a:srgbClr val="FFFFFF"/>
                </a:solidFill>
                <a:latin typeface="Inter"/>
                <a:ea typeface="Inter"/>
                <a:cs typeface="Inter"/>
                <a:sym typeface="Inter"/>
              </a:rPr>
              <a:t>20 November 2025</a:t>
            </a:r>
            <a:endParaRPr lang="en-US" sz="1100" dirty="0">
              <a:latin typeface="Inter"/>
              <a:ea typeface="Inter"/>
              <a:cs typeface="Inter"/>
              <a:sym typeface="Inter"/>
            </a:endParaRPr>
          </a:p>
        </p:txBody>
      </p:sp>
      <p:sp>
        <p:nvSpPr>
          <p:cNvPr id="101" name="Google Shape;101;p19"/>
          <p:cNvSpPr txBox="1"/>
          <p:nvPr/>
        </p:nvSpPr>
        <p:spPr>
          <a:xfrm>
            <a:off x="294650" y="4322350"/>
            <a:ext cx="3783600" cy="44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200" dirty="0">
                <a:latin typeface="Inter"/>
                <a:ea typeface="Inter"/>
                <a:cs typeface="Inter"/>
                <a:sym typeface="Inter"/>
              </a:rPr>
              <a:t>Internet Engineering Task Force</a:t>
            </a:r>
          </a:p>
          <a:p>
            <a:pPr marL="0" lvl="0" indent="0" algn="l" rtl="0">
              <a:spcBef>
                <a:spcPts val="0"/>
              </a:spcBef>
              <a:spcAft>
                <a:spcPts val="0"/>
              </a:spcAft>
              <a:buNone/>
            </a:pPr>
            <a:r>
              <a:rPr lang="en-US" sz="1200" dirty="0">
                <a:latin typeface="Inter"/>
                <a:ea typeface="Inter"/>
                <a:cs typeface="Inter"/>
                <a:sym typeface="Inter"/>
              </a:rPr>
              <a:t>© 2025 IETF Trust </a:t>
            </a:r>
          </a:p>
          <a:p>
            <a:pPr marL="0" lvl="0" indent="0" algn="l" rtl="0">
              <a:spcBef>
                <a:spcPts val="0"/>
              </a:spcBef>
              <a:spcAft>
                <a:spcPts val="0"/>
              </a:spcAft>
              <a:buNone/>
            </a:pPr>
            <a:r>
              <a:rPr lang="en-US" sz="1200" dirty="0">
                <a:latin typeface="Inter"/>
                <a:ea typeface="Inter"/>
                <a:cs typeface="Inter"/>
                <a:sym typeface="Inter"/>
              </a:rPr>
              <a:t>Production by </a:t>
            </a:r>
            <a:r>
              <a:rPr lang="en-US" sz="1200" dirty="0" err="1">
                <a:latin typeface="Inter"/>
                <a:ea typeface="Inter"/>
                <a:cs typeface="Inter"/>
                <a:sym typeface="Inter"/>
              </a:rPr>
              <a:t>Meetecho</a:t>
            </a:r>
            <a:endParaRPr lang="en-US" sz="1200" dirty="0">
              <a:latin typeface="Inter"/>
              <a:ea typeface="Inter"/>
              <a:cs typeface="Inter"/>
              <a:sym typeface="Inter"/>
            </a:endParaRPr>
          </a:p>
        </p:txBody>
      </p:sp>
      <p:sp>
        <p:nvSpPr>
          <p:cNvPr id="102" name="Google Shape;102;p19"/>
          <p:cNvSpPr txBox="1"/>
          <p:nvPr/>
        </p:nvSpPr>
        <p:spPr>
          <a:xfrm>
            <a:off x="754475" y="3154800"/>
            <a:ext cx="5724900" cy="6678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300"/>
              </a:spcBef>
              <a:spcAft>
                <a:spcPts val="0"/>
              </a:spcAft>
              <a:buNone/>
            </a:pPr>
            <a:r>
              <a:rPr lang="en-US" sz="2400" dirty="0">
                <a:solidFill>
                  <a:srgbClr val="FFF2CC"/>
                </a:solidFill>
                <a:latin typeface="Inter"/>
                <a:ea typeface="Inter"/>
                <a:cs typeface="Inter"/>
                <a:sym typeface="Inter"/>
              </a:rPr>
              <a:t>This session is being recorded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a:latin typeface="Inter"/>
                <a:ea typeface="Inter"/>
                <a:cs typeface="Inter"/>
                <a:sym typeface="Inter"/>
              </a:rPr>
              <a:t>Note Well</a:t>
            </a:r>
            <a:endParaRPr sz="2400" i="0" u="none" strike="noStrike" cap="none">
              <a:solidFill>
                <a:schemeClr val="lt1"/>
              </a:solidFill>
              <a:latin typeface="Inter"/>
              <a:ea typeface="Inter"/>
              <a:cs typeface="Inter"/>
              <a:sym typeface="Inter"/>
            </a:endParaRPr>
          </a:p>
        </p:txBody>
      </p:sp>
      <p:sp>
        <p:nvSpPr>
          <p:cNvPr id="70" name="Google Shape;70;p12"/>
          <p:cNvSpPr txBox="1"/>
          <p:nvPr/>
        </p:nvSpPr>
        <p:spPr>
          <a:xfrm>
            <a:off x="311700" y="740167"/>
            <a:ext cx="8520600" cy="4100700"/>
          </a:xfrm>
          <a:prstGeom prst="rect">
            <a:avLst/>
          </a:prstGeom>
          <a:noFill/>
          <a:ln>
            <a:noFill/>
          </a:ln>
        </p:spPr>
        <p:txBody>
          <a:bodyPr spcFirstLastPara="1" wrap="square" lIns="91400" tIns="45700" rIns="91400" bIns="45700" anchor="t" anchorCtr="0">
            <a:noAutofit/>
          </a:bodyPr>
          <a:lstStyle/>
          <a:p>
            <a:pPr marL="0" marR="0" lvl="0" indent="0" algn="l"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By participating in the IETF you agree to follow IETF processes and policies. This Note Well is a reminder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of some of those policies. For a linked version of this text, please visit </a:t>
            </a:r>
            <a:r>
              <a:rPr kumimoji="0" lang="en-US" sz="1200" b="0" i="1" u="none" strike="noStrike" kern="0" cap="none" spc="0" normalizeH="0" baseline="0" noProof="0" dirty="0" err="1">
                <a:ln>
                  <a:noFill/>
                </a:ln>
                <a:solidFill>
                  <a:srgbClr val="000000"/>
                </a:solidFill>
                <a:effectLst/>
                <a:uLnTx/>
                <a:uFillTx/>
                <a:latin typeface="Inter"/>
                <a:ea typeface="Inter"/>
                <a:cs typeface="Inter"/>
                <a:sym typeface="Inter"/>
              </a:rPr>
              <a:t>www.ietf.org</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/note-well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or use the QR code below.</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IETF participants are expected to behave in a professional manner and extend respect and courtesy to their colleagues at all times (see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7154: IETF Guidelines for Conduct and IETF Anti-Harassment Policy</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If you have any concerns about behavior, please contact the </a:t>
            </a:r>
            <a:r>
              <a:rPr kumimoji="0" lang="en-US" sz="1200" b="0" i="1" u="none" strike="noStrike" kern="0" cap="none" spc="0" normalizeH="0" baseline="0" noProof="0" dirty="0" err="1">
                <a:ln>
                  <a:noFill/>
                </a:ln>
                <a:solidFill>
                  <a:srgbClr val="000000"/>
                </a:solidFill>
                <a:effectLst/>
                <a:uLnTx/>
                <a:uFillTx/>
                <a:latin typeface="Inter"/>
                <a:ea typeface="Inter"/>
                <a:cs typeface="Inter"/>
                <a:sym typeface="Inter"/>
              </a:rPr>
              <a:t>Ombudsteam</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who have a duty of confidentiality and extensive powers to act, as set out in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7776: IETF Anti-Harassment Procedures</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If you are aware that any IETF contribution (as defined in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5378: Rights Contributors Provide to the IETF Trust</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is covered by patents or patent applications that are owned or controlled by you, your employer or your sponsor, you must disclose that fact, or not participate in the discussion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(see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8179: Intellectual Property Rights in IETF Technology</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For detailed process information consult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2026: Internet Standards Process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and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2418: IETF Working Group Guidelines and Procedures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and updates to those.</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The IETF routinely makes public written, audio, video, and photographic records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of IETF activities, including your personal information as set out in the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IETF Privacy Statement</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0" marR="0" lvl="0" indent="0" algn="l" defTabSz="914400" rtl="0" eaLnBrk="1" fontAlgn="auto" latinLnBrk="0" hangingPunct="1">
              <a:lnSpc>
                <a:spcPct val="115000"/>
              </a:lnSpc>
              <a:spcBef>
                <a:spcPts val="1000"/>
              </a:spcBef>
              <a:spcAft>
                <a:spcPts val="100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For advice, please talk to Working Group chairs or Area Directors.</a:t>
            </a:r>
            <a:endParaRPr kumimoji="0" sz="1200" b="0" i="0" u="none" strike="noStrike" kern="0" cap="none" spc="0" normalizeH="0" baseline="0" noProof="0" dirty="0">
              <a:ln>
                <a:noFill/>
              </a:ln>
              <a:solidFill>
                <a:srgbClr val="434343"/>
              </a:solidFill>
              <a:effectLst/>
              <a:uLnTx/>
              <a:uFillTx/>
              <a:latin typeface="Inter"/>
              <a:ea typeface="Inter"/>
              <a:cs typeface="Inter"/>
              <a:sym typeface="Inter"/>
            </a:endParaRPr>
          </a:p>
        </p:txBody>
      </p:sp>
      <p:pic>
        <p:nvPicPr>
          <p:cNvPr id="71" name="Google Shape;71;p12"/>
          <p:cNvPicPr preferRelativeResize="0"/>
          <p:nvPr/>
        </p:nvPicPr>
        <p:blipFill>
          <a:blip r:embed="rId3">
            <a:alphaModFix/>
          </a:blip>
          <a:stretch>
            <a:fillRect/>
          </a:stretch>
        </p:blipFill>
        <p:spPr>
          <a:xfrm>
            <a:off x="7489875" y="3038675"/>
            <a:ext cx="1383300" cy="1383300"/>
          </a:xfrm>
          <a:prstGeom prst="rect">
            <a:avLst/>
          </a:prstGeom>
          <a:noFill/>
          <a:ln w="9525" cap="flat" cmpd="sng">
            <a:solidFill>
              <a:srgbClr val="000000"/>
            </a:solidFill>
            <a:prstDash val="solid"/>
            <a:round/>
            <a:headEnd type="none" w="sm" len="sm"/>
            <a:tailEnd type="none" w="sm" len="sm"/>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22"/>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lvl="0"/>
            <a:r>
              <a:rPr lang="en-US" dirty="0"/>
              <a:t>IETF interim-2025-01 Meeting Tips</a:t>
            </a:r>
            <a:endParaRPr lang="en-US" sz="2400" dirty="0">
              <a:solidFill>
                <a:srgbClr val="FFFFFF"/>
              </a:solidFill>
            </a:endParaRPr>
          </a:p>
        </p:txBody>
      </p:sp>
      <p:sp>
        <p:nvSpPr>
          <p:cNvPr id="120" name="Google Shape;120;p22"/>
          <p:cNvSpPr txBox="1">
            <a:spLocks noGrp="1"/>
          </p:cNvSpPr>
          <p:nvPr>
            <p:ph type="body" idx="1"/>
          </p:nvPr>
        </p:nvSpPr>
        <p:spPr>
          <a:xfrm>
            <a:off x="331800" y="1896950"/>
            <a:ext cx="8480400" cy="2727300"/>
          </a:xfrm>
          <a:prstGeom prst="rect">
            <a:avLst/>
          </a:prstGeom>
          <a:noFill/>
          <a:ln>
            <a:noFill/>
          </a:ln>
        </p:spPr>
        <p:txBody>
          <a:bodyPr spcFirstLastPara="1" wrap="square" lIns="91400" tIns="91400" rIns="91400" bIns="91400" anchor="t" anchorCtr="0">
            <a:noAutofit/>
          </a:bodyPr>
          <a:lstStyle/>
          <a:p>
            <a:pPr marL="0" lvl="0" indent="0" algn="l" rtl="0">
              <a:lnSpc>
                <a:spcPct val="110000"/>
              </a:lnSpc>
              <a:spcBef>
                <a:spcPts val="300"/>
              </a:spcBef>
              <a:spcAft>
                <a:spcPts val="0"/>
              </a:spcAft>
              <a:buNone/>
            </a:pPr>
            <a:r>
              <a:rPr lang="en-US" sz="1600" b="1" dirty="0">
                <a:solidFill>
                  <a:srgbClr val="000000"/>
                </a:solidFill>
              </a:rPr>
              <a:t>Remote participants </a:t>
            </a:r>
            <a:endParaRPr lang="en-US" sz="1600" dirty="0">
              <a:solidFill>
                <a:srgbClr val="000000"/>
              </a:solidFill>
            </a:endParaRPr>
          </a:p>
          <a:p>
            <a:pPr marL="457200" lvl="0" indent="-330200" algn="l" rtl="0">
              <a:lnSpc>
                <a:spcPct val="110000"/>
              </a:lnSpc>
              <a:spcBef>
                <a:spcPts val="300"/>
              </a:spcBef>
              <a:spcAft>
                <a:spcPts val="0"/>
              </a:spcAft>
              <a:buClr>
                <a:srgbClr val="000000"/>
              </a:buClr>
              <a:buSzPts val="1600"/>
              <a:buChar char="●"/>
            </a:pPr>
            <a:r>
              <a:rPr lang="en-US" sz="1600" dirty="0">
                <a:solidFill>
                  <a:srgbClr val="000000"/>
                </a:solidFill>
              </a:rPr>
              <a:t>Make sure your audio and video are off unless you are chairing or presenting during a session.</a:t>
            </a:r>
          </a:p>
          <a:p>
            <a:pPr marL="457200" lvl="0" indent="-330200" algn="l" rtl="0">
              <a:lnSpc>
                <a:spcPct val="110000"/>
              </a:lnSpc>
              <a:spcBef>
                <a:spcPts val="0"/>
              </a:spcBef>
              <a:spcAft>
                <a:spcPts val="0"/>
              </a:spcAft>
              <a:buClr>
                <a:srgbClr val="000000"/>
              </a:buClr>
              <a:buSzPts val="1600"/>
              <a:buChar char="●"/>
            </a:pPr>
            <a:r>
              <a:rPr lang="en-US" sz="1600" dirty="0">
                <a:solidFill>
                  <a:srgbClr val="000000"/>
                </a:solidFill>
              </a:rPr>
              <a:t>Use of a headset is strongly recommended.</a:t>
            </a:r>
          </a:p>
        </p:txBody>
      </p:sp>
      <p:sp>
        <p:nvSpPr>
          <p:cNvPr id="121" name="Google Shape;121;p22"/>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3</a:t>
            </a:fld>
            <a:endParaRPr lang="en-US" dirty="0"/>
          </a:p>
        </p:txBody>
      </p:sp>
      <p:sp>
        <p:nvSpPr>
          <p:cNvPr id="122" name="Google Shape;122;p22"/>
          <p:cNvSpPr txBox="1"/>
          <p:nvPr/>
        </p:nvSpPr>
        <p:spPr>
          <a:xfrm>
            <a:off x="1709550" y="218225"/>
            <a:ext cx="5724900" cy="667800"/>
          </a:xfrm>
          <a:prstGeom prst="rect">
            <a:avLst/>
          </a:prstGeom>
          <a:noFill/>
          <a:ln>
            <a:noFill/>
          </a:ln>
        </p:spPr>
        <p:txBody>
          <a:bodyPr spcFirstLastPara="1" wrap="square" lIns="91425" tIns="91425" rIns="91425" bIns="91425" anchor="t" anchorCtr="0">
            <a:noAutofit/>
          </a:bodyPr>
          <a:lstStyle/>
          <a:p>
            <a:pPr marL="0" lvl="0" indent="0" algn="ctr" rtl="0">
              <a:lnSpc>
                <a:spcPct val="110000"/>
              </a:lnSpc>
              <a:spcBef>
                <a:spcPts val="300"/>
              </a:spcBef>
              <a:spcAft>
                <a:spcPts val="0"/>
              </a:spcAft>
              <a:buNone/>
            </a:pPr>
            <a:r>
              <a:rPr lang="en-US" sz="2400" dirty="0">
                <a:solidFill>
                  <a:srgbClr val="FFE599"/>
                </a:solidFill>
                <a:latin typeface="Montserrat"/>
                <a:ea typeface="Montserrat"/>
                <a:cs typeface="Montserrat"/>
                <a:sym typeface="Montserrat"/>
              </a:rPr>
              <a:t>This session is being recorded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Joint BMWG and IPPM Meeting</a:t>
            </a:r>
          </a:p>
        </p:txBody>
      </p:sp>
      <p:sp>
        <p:nvSpPr>
          <p:cNvPr id="3" name="Text Placeholder 2">
            <a:extLst>
              <a:ext uri="{FF2B5EF4-FFF2-40B4-BE49-F238E27FC236}">
                <a16:creationId xmlns:a16="http://schemas.microsoft.com/office/drawing/2014/main" id="{DA4A6F5D-9442-B583-BAB9-5A102B90EC22}"/>
              </a:ext>
            </a:extLst>
          </p:cNvPr>
          <p:cNvSpPr>
            <a:spLocks noGrp="1"/>
          </p:cNvSpPr>
          <p:nvPr>
            <p:ph type="body" idx="1"/>
          </p:nvPr>
        </p:nvSpPr>
        <p:spPr/>
        <p:txBody>
          <a:bodyPr/>
          <a:lstStyle/>
          <a:p>
            <a:r>
              <a:rPr lang="en-US" sz="1500" dirty="0"/>
              <a:t>Due to similar topics we wanted to facilitate the exchange and discussions between both working groups by having a joint session again and start exploring a joint charter with Qin Wu</a:t>
            </a:r>
            <a:r>
              <a:rPr lang="en-001" sz="1500" dirty="0"/>
              <a:t>.</a:t>
            </a:r>
          </a:p>
          <a:p>
            <a:endParaRPr lang="en-001" sz="1500" dirty="0"/>
          </a:p>
          <a:p>
            <a:r>
              <a:rPr lang="en-US" sz="1500" dirty="0"/>
              <a:t>Qin </a:t>
            </a:r>
            <a:r>
              <a:rPr lang="en-001" sz="1500" dirty="0"/>
              <a:t>presented the rationale for joint chartering at IETF 124</a:t>
            </a:r>
            <a:r>
              <a:rPr lang="en-US" sz="1500" dirty="0"/>
              <a:t>.</a:t>
            </a:r>
            <a:r>
              <a:rPr lang="en-001" sz="1500" dirty="0"/>
              <a:t> Since then we have collected feedback from participants of both working groups.</a:t>
            </a:r>
            <a:endParaRPr lang="en-US" sz="1500" dirty="0"/>
          </a:p>
          <a:p>
            <a:pPr>
              <a:spcBef>
                <a:spcPts val="1200"/>
              </a:spcBef>
            </a:pPr>
            <a:r>
              <a:rPr lang="en-001" sz="1500" dirty="0"/>
              <a:t>At the end of this meeting Qin will present the current status of the ongoing discussions.</a:t>
            </a:r>
            <a:endParaRPr lang="en-US" sz="1500"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4</a:t>
            </a:fld>
            <a:endParaRPr lang="en-US" dirty="0"/>
          </a:p>
        </p:txBody>
      </p:sp>
    </p:spTree>
    <p:extLst>
      <p:ext uri="{BB962C8B-B14F-4D97-AF65-F5344CB8AC3E}">
        <p14:creationId xmlns:p14="http://schemas.microsoft.com/office/powerpoint/2010/main" val="2434865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BMWG charter</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146050" marR="0" lvl="0" indent="0" algn="l" rtl="0">
              <a:lnSpc>
                <a:spcPct val="115000"/>
              </a:lnSpc>
              <a:spcBef>
                <a:spcPts val="600"/>
              </a:spcBef>
              <a:spcAft>
                <a:spcPts val="0"/>
              </a:spcAft>
              <a:buClr>
                <a:srgbClr val="434343"/>
              </a:buClr>
              <a:buSzPts val="1300"/>
              <a:buNone/>
            </a:pP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Benchmarking Methodology Working Group (BMWG) will continue to produce a series of recommendations concerning the </a:t>
            </a:r>
            <a:r>
              <a:rPr lang="en-US" sz="1300" b="1" dirty="0">
                <a:solidFill>
                  <a:srgbClr val="434343"/>
                </a:solidFill>
                <a:latin typeface="Inter"/>
                <a:ea typeface="Inter"/>
                <a:cs typeface="Inter"/>
                <a:sym typeface="Inter"/>
              </a:rPr>
              <a:t>key performance characteristics of internetworking technologies, or benchmarks for network devices, systems, and services. </a:t>
            </a:r>
            <a:r>
              <a:rPr lang="en-US" sz="1300" dirty="0">
                <a:solidFill>
                  <a:srgbClr val="434343"/>
                </a:solidFill>
                <a:latin typeface="Inter"/>
                <a:ea typeface="Inter"/>
                <a:cs typeface="Inter"/>
                <a:sym typeface="Inter"/>
              </a:rPr>
              <a:t>Taking a view of networking divided into planes, the scope of work includes benchmarks for the management, control, and forwarding planes. </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set of relevant benchmarks will be developed with input from the community of users (network operators and testing organizations) and from those affected by the benchmarks when they are published (networking and test equipment manufacturers). </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scope of the BMWG is limited to the characterization of implementations of various internetworking technologies using controlled stimuli in a laboratory environment. Said differently, the BMWG does not attempt to produce benchmarks for live, operational networks.</a:t>
            </a:r>
          </a:p>
          <a:p>
            <a:pPr marL="146050" marR="0" lvl="0" indent="0" algn="l" rtl="0">
              <a:lnSpc>
                <a:spcPct val="115000"/>
              </a:lnSpc>
              <a:spcBef>
                <a:spcPts val="600"/>
              </a:spcBef>
              <a:spcAft>
                <a:spcPts val="0"/>
              </a:spcAft>
              <a:buClr>
                <a:srgbClr val="434343"/>
              </a:buClr>
              <a:buSzPts val="1300"/>
              <a:buNone/>
            </a:pPr>
            <a:endParaRPr lang="en-US" sz="1300" b="1" dirty="0">
              <a:solidFill>
                <a:srgbClr val="434343"/>
              </a:solidFill>
              <a:latin typeface="Inter"/>
              <a:ea typeface="Inter"/>
              <a:cs typeface="Inter"/>
              <a:sym typeface="Inter"/>
            </a:endParaRPr>
          </a:p>
          <a:p>
            <a:pPr marL="146050" marR="0" lvl="0" indent="0" algn="l" rtl="0">
              <a:lnSpc>
                <a:spcPct val="115000"/>
              </a:lnSpc>
              <a:spcBef>
                <a:spcPts val="600"/>
              </a:spcBef>
              <a:spcAft>
                <a:spcPts val="0"/>
              </a:spcAft>
              <a:buClr>
                <a:srgbClr val="434343"/>
              </a:buClr>
              <a:buSzPts val="1300"/>
              <a:buNone/>
            </a:pPr>
            <a:r>
              <a:rPr lang="en-US" sz="1300" b="1" dirty="0">
                <a:solidFill>
                  <a:srgbClr val="434343"/>
                </a:solidFill>
                <a:latin typeface="Inter"/>
                <a:ea typeface="Inter"/>
                <a:cs typeface="Inter"/>
                <a:sym typeface="Inter"/>
              </a:rPr>
              <a:t>Full Charter: </a:t>
            </a:r>
            <a:r>
              <a:rPr lang="en-US" sz="1300" dirty="0">
                <a:solidFill>
                  <a:srgbClr val="434343"/>
                </a:solidFill>
                <a:latin typeface="Inter"/>
                <a:ea typeface="Inter"/>
                <a:cs typeface="Inter"/>
                <a:sym typeface="Inter"/>
                <a:hlinkClick r:id="rId3"/>
              </a:rPr>
              <a:t>https://datatracker.ietf.org/group/bmwg/about/</a:t>
            </a:r>
            <a:endParaRPr lang="en-US" sz="1300" dirty="0">
              <a:solidFill>
                <a:srgbClr val="434343"/>
              </a:solidFill>
              <a:latin typeface="Inter"/>
              <a:ea typeface="Inter"/>
              <a:cs typeface="Inter"/>
              <a:sym typeface="Inter"/>
            </a:endParaRPr>
          </a:p>
        </p:txBody>
      </p:sp>
    </p:spTree>
    <p:extLst>
      <p:ext uri="{BB962C8B-B14F-4D97-AF65-F5344CB8AC3E}">
        <p14:creationId xmlns:p14="http://schemas.microsoft.com/office/powerpoint/2010/main" val="16598434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IPPM charter</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457200" marR="0" lvl="0" indent="-311150" algn="l" rtl="0">
              <a:lnSpc>
                <a:spcPct val="115000"/>
              </a:lnSpc>
              <a:spcBef>
                <a:spcPts val="600"/>
              </a:spcBef>
              <a:spcAft>
                <a:spcPts val="0"/>
              </a:spcAft>
              <a:buClr>
                <a:srgbClr val="434343"/>
              </a:buClr>
              <a:buSzPts val="1300"/>
              <a:buFont typeface="Inter"/>
              <a:buChar char="●"/>
            </a:pP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IP Performance Measurement (IPPM) Working Group </a:t>
            </a:r>
            <a:r>
              <a:rPr lang="en-US" sz="1300" b="1" dirty="0">
                <a:solidFill>
                  <a:srgbClr val="434343"/>
                </a:solidFill>
                <a:latin typeface="Inter"/>
                <a:ea typeface="Inter"/>
                <a:cs typeface="Inter"/>
                <a:sym typeface="Inter"/>
              </a:rPr>
              <a:t>develops and maintains standard metrics that can be applied to the quality, performance, and reliability of Internet data delivery services and applications running over transport layer protocols (e.g. TCP, UDP) over IP. </a:t>
            </a:r>
            <a:r>
              <a:rPr lang="en-US" sz="1300" dirty="0">
                <a:solidFill>
                  <a:srgbClr val="434343"/>
                </a:solidFill>
                <a:latin typeface="Inter"/>
                <a:ea typeface="Inter"/>
                <a:cs typeface="Inter"/>
                <a:sym typeface="Inter"/>
              </a:rPr>
              <a:t>It also develops and maintains methodologies and protocols for the measurement of these metrics. These metrics, protocols, and methodologies are designed such that they can be used by network operators, end users, or independent testing groups. Metrics developed by the IPPM WG are intended to provide unbiased quantitative performance measurements.</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IPPM WG works to foster commonality and comparability of metrics and measurements across IETF protocols at different layers. Its work is limited to metrics and methodologies which are applicable over transport-layer protocols over IP, and does not specify encapsulations required for measurements over non-IP layers.</a:t>
            </a:r>
          </a:p>
          <a:p>
            <a:pPr marL="146050" indent="0">
              <a:spcBef>
                <a:spcPts val="600"/>
              </a:spcBef>
              <a:buClr>
                <a:srgbClr val="434343"/>
              </a:buClr>
              <a:buSzPts val="1300"/>
              <a:buNone/>
            </a:pPr>
            <a:endParaRPr lang="en-US" sz="1300" b="1" dirty="0">
              <a:solidFill>
                <a:srgbClr val="434343"/>
              </a:solidFill>
              <a:latin typeface="Inter"/>
              <a:ea typeface="Inter"/>
              <a:cs typeface="Inter"/>
              <a:sym typeface="Inter"/>
            </a:endParaRPr>
          </a:p>
          <a:p>
            <a:pPr marL="146050" indent="0">
              <a:spcBef>
                <a:spcPts val="600"/>
              </a:spcBef>
              <a:buClr>
                <a:srgbClr val="434343"/>
              </a:buClr>
              <a:buSzPts val="1300"/>
              <a:buNone/>
            </a:pPr>
            <a:endParaRPr lang="en-US" sz="1300" b="1" dirty="0">
              <a:solidFill>
                <a:srgbClr val="434343"/>
              </a:solidFill>
              <a:latin typeface="Inter"/>
              <a:ea typeface="Inter"/>
              <a:cs typeface="Inter"/>
              <a:sym typeface="Inter"/>
            </a:endParaRPr>
          </a:p>
          <a:p>
            <a:pPr marL="146050" indent="0">
              <a:spcBef>
                <a:spcPts val="600"/>
              </a:spcBef>
              <a:buClr>
                <a:srgbClr val="434343"/>
              </a:buClr>
              <a:buSzPts val="1300"/>
              <a:buNone/>
            </a:pPr>
            <a:r>
              <a:rPr lang="en-US" sz="1300" b="1" dirty="0">
                <a:solidFill>
                  <a:srgbClr val="434343"/>
                </a:solidFill>
                <a:latin typeface="Inter"/>
                <a:ea typeface="Inter"/>
                <a:cs typeface="Inter"/>
                <a:sym typeface="Inter"/>
              </a:rPr>
              <a:t>Full Charter: </a:t>
            </a:r>
            <a:r>
              <a:rPr lang="en-US" sz="1300" dirty="0">
                <a:solidFill>
                  <a:srgbClr val="434343"/>
                </a:solidFill>
                <a:latin typeface="Inter"/>
                <a:ea typeface="Inter"/>
                <a:cs typeface="Inter"/>
                <a:sym typeface="Inter"/>
                <a:hlinkClick r:id="rId3"/>
              </a:rPr>
              <a:t>https://datatracker.ietf.org/group/ippm/about/</a:t>
            </a:r>
            <a:br>
              <a:rPr lang="en-US" sz="1300" dirty="0">
                <a:solidFill>
                  <a:srgbClr val="434343"/>
                </a:solidFill>
                <a:latin typeface="Inter"/>
                <a:ea typeface="Inter"/>
                <a:cs typeface="Inter"/>
                <a:sym typeface="Inter"/>
              </a:rPr>
            </a:b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endParaRPr lang="en-US" sz="1300" dirty="0">
              <a:solidFill>
                <a:srgbClr val="434343"/>
              </a:solidFill>
              <a:latin typeface="Inter"/>
              <a:ea typeface="Inter"/>
              <a:cs typeface="Inter"/>
              <a:sym typeface="Inter"/>
            </a:endParaRPr>
          </a:p>
        </p:txBody>
      </p:sp>
    </p:spTree>
    <p:extLst>
      <p:ext uri="{BB962C8B-B14F-4D97-AF65-F5344CB8AC3E}">
        <p14:creationId xmlns:p14="http://schemas.microsoft.com/office/powerpoint/2010/main" val="13833129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Notetaker</a:t>
            </a:r>
          </a:p>
        </p:txBody>
      </p:sp>
      <p:sp>
        <p:nvSpPr>
          <p:cNvPr id="3" name="Text Placeholder 2">
            <a:extLst>
              <a:ext uri="{FF2B5EF4-FFF2-40B4-BE49-F238E27FC236}">
                <a16:creationId xmlns:a16="http://schemas.microsoft.com/office/drawing/2014/main" id="{DA4A6F5D-9442-B583-BAB9-5A102B90EC22}"/>
              </a:ext>
            </a:extLst>
          </p:cNvPr>
          <p:cNvSpPr>
            <a:spLocks noGrp="1"/>
          </p:cNvSpPr>
          <p:nvPr>
            <p:ph type="body" idx="1"/>
          </p:nvPr>
        </p:nvSpPr>
        <p:spPr/>
        <p:txBody>
          <a:bodyPr/>
          <a:lstStyle/>
          <a:p>
            <a:r>
              <a:rPr lang="en-US" dirty="0"/>
              <a:t>We need a volunteer for notetaking.</a:t>
            </a:r>
          </a:p>
          <a:p>
            <a:r>
              <a:rPr lang="en-US" dirty="0">
                <a:hlinkClick r:id="rId3"/>
              </a:rPr>
              <a:t>https://notes.ietf.org/notes-ietf-interim-2025-ippm-01-ippm </a:t>
            </a:r>
            <a:endParaRPr lang="en-US"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7</a:t>
            </a:fld>
            <a:endParaRPr lang="en-US" dirty="0"/>
          </a:p>
        </p:txBody>
      </p:sp>
    </p:spTree>
    <p:extLst>
      <p:ext uri="{BB962C8B-B14F-4D97-AF65-F5344CB8AC3E}">
        <p14:creationId xmlns:p14="http://schemas.microsoft.com/office/powerpoint/2010/main" val="34710972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Agenda – Proposed Work</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8</a:t>
            </a:fld>
            <a:endParaRPr lang="en-US" dirty="0"/>
          </a:p>
        </p:txBody>
      </p:sp>
      <p:pic>
        <p:nvPicPr>
          <p:cNvPr id="5" name="Picture 4">
            <a:extLst>
              <a:ext uri="{FF2B5EF4-FFF2-40B4-BE49-F238E27FC236}">
                <a16:creationId xmlns:a16="http://schemas.microsoft.com/office/drawing/2014/main" id="{FE13A266-D6BB-96B1-57ED-CE4C990DD23D}"/>
              </a:ext>
            </a:extLst>
          </p:cNvPr>
          <p:cNvPicPr>
            <a:picLocks noChangeAspect="1"/>
          </p:cNvPicPr>
          <p:nvPr/>
        </p:nvPicPr>
        <p:blipFill>
          <a:blip r:embed="rId3"/>
          <a:stretch>
            <a:fillRect/>
          </a:stretch>
        </p:blipFill>
        <p:spPr>
          <a:xfrm>
            <a:off x="471901" y="1913007"/>
            <a:ext cx="5950500" cy="2905878"/>
          </a:xfrm>
          <a:prstGeom prst="rect">
            <a:avLst/>
          </a:prstGeom>
        </p:spPr>
      </p:pic>
    </p:spTree>
    <p:extLst>
      <p:ext uri="{BB962C8B-B14F-4D97-AF65-F5344CB8AC3E}">
        <p14:creationId xmlns:p14="http://schemas.microsoft.com/office/powerpoint/2010/main" val="7034951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de-CH" dirty="0"/>
              <a:t>Joint </a:t>
            </a:r>
            <a:r>
              <a:rPr lang="de-CH" dirty="0" err="1"/>
              <a:t>Chartering</a:t>
            </a:r>
            <a:r>
              <a:rPr lang="de-CH" dirty="0"/>
              <a:t> Discussion</a:t>
            </a:r>
            <a:endParaRPr lang="en-US"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40000" y="4724798"/>
            <a:ext cx="432241" cy="335251"/>
          </a:xfrm>
        </p:spPr>
        <p:txBody>
          <a:bodyPr/>
          <a:lstStyle/>
          <a:p>
            <a:pPr marL="0" lvl="0" indent="0" algn="r" rtl="0">
              <a:spcBef>
                <a:spcPts val="0"/>
              </a:spcBef>
              <a:spcAft>
                <a:spcPts val="0"/>
              </a:spcAft>
              <a:buNone/>
            </a:pPr>
            <a:fld id="{00000000-1234-1234-1234-123412341234}" type="slidenum">
              <a:rPr lang="en-US" smtClean="0"/>
              <a:t>9</a:t>
            </a:fld>
            <a:endParaRPr lang="en-US" dirty="0"/>
          </a:p>
        </p:txBody>
      </p:sp>
      <p:pic>
        <p:nvPicPr>
          <p:cNvPr id="5" name="Picture 4">
            <a:extLst>
              <a:ext uri="{FF2B5EF4-FFF2-40B4-BE49-F238E27FC236}">
                <a16:creationId xmlns:a16="http://schemas.microsoft.com/office/drawing/2014/main" id="{B4321994-454D-B2E5-927E-C9C98E7AC86A}"/>
              </a:ext>
            </a:extLst>
          </p:cNvPr>
          <p:cNvPicPr>
            <a:picLocks noChangeAspect="1"/>
          </p:cNvPicPr>
          <p:nvPr/>
        </p:nvPicPr>
        <p:blipFill>
          <a:blip r:embed="rId3"/>
          <a:stretch>
            <a:fillRect/>
          </a:stretch>
        </p:blipFill>
        <p:spPr>
          <a:xfrm>
            <a:off x="471900" y="2210610"/>
            <a:ext cx="7401958" cy="905001"/>
          </a:xfrm>
          <a:prstGeom prst="rect">
            <a:avLst/>
          </a:prstGeom>
        </p:spPr>
      </p:pic>
    </p:spTree>
    <p:extLst>
      <p:ext uri="{BB962C8B-B14F-4D97-AF65-F5344CB8AC3E}">
        <p14:creationId xmlns:p14="http://schemas.microsoft.com/office/powerpoint/2010/main" val="18590128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a:xfrm>
            <a:off x="471899" y="218223"/>
            <a:ext cx="8395009" cy="1288203"/>
          </a:xfrm>
        </p:spPr>
        <p:txBody>
          <a:bodyPr anchor="ctr"/>
          <a:lstStyle/>
          <a:p>
            <a:r>
              <a:rPr lang="en-US" sz="3200" dirty="0"/>
              <a:t>BMWG and IPPM Document Updates</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10</a:t>
            </a:fld>
            <a:endParaRPr lang="en-US" dirty="0"/>
          </a:p>
        </p:txBody>
      </p:sp>
      <p:sp>
        <p:nvSpPr>
          <p:cNvPr id="3" name="Text Placeholder 2">
            <a:extLst>
              <a:ext uri="{FF2B5EF4-FFF2-40B4-BE49-F238E27FC236}">
                <a16:creationId xmlns:a16="http://schemas.microsoft.com/office/drawing/2014/main" id="{FED4E835-D652-159B-D0CD-7FC58A509645}"/>
              </a:ext>
            </a:extLst>
          </p:cNvPr>
          <p:cNvSpPr>
            <a:spLocks noGrp="1"/>
          </p:cNvSpPr>
          <p:nvPr>
            <p:ph type="body" idx="1"/>
          </p:nvPr>
        </p:nvSpPr>
        <p:spPr>
          <a:xfrm>
            <a:off x="301916" y="1851076"/>
            <a:ext cx="4197503" cy="2802986"/>
          </a:xfrm>
        </p:spPr>
        <p:txBody>
          <a:bodyPr/>
          <a:lstStyle/>
          <a:p>
            <a:pPr marL="114300" indent="0">
              <a:buNone/>
            </a:pPr>
            <a:r>
              <a:rPr lang="de-CH" sz="1600" b="1" dirty="0"/>
              <a:t>BMWG</a:t>
            </a:r>
            <a:endParaRPr lang="de-CH" sz="1600" b="1" dirty="0">
              <a:hlinkClick r:id="rId3"/>
            </a:endParaRPr>
          </a:p>
          <a:p>
            <a:r>
              <a:rPr lang="de-CH" sz="1200" b="1" dirty="0">
                <a:hlinkClick r:id="rId3"/>
              </a:rPr>
              <a:t>draft-ietf-bmwg-mlrsearch</a:t>
            </a:r>
            <a:r>
              <a:rPr lang="de-CH" sz="1200" b="1" dirty="0"/>
              <a:t> </a:t>
            </a:r>
            <a:r>
              <a:rPr lang="en-US" sz="1200" dirty="0"/>
              <a:t>submitted to IESG for publication.</a:t>
            </a:r>
          </a:p>
          <a:p>
            <a:r>
              <a:rPr lang="de-CH" sz="1200" b="1" dirty="0">
                <a:hlinkClick r:id="rId4"/>
              </a:rPr>
              <a:t>draft-ietf-bmwg-network-tester-cfg</a:t>
            </a:r>
            <a:r>
              <a:rPr lang="de-CH" sz="1200" dirty="0"/>
              <a:t> passed WGLC but a new revision is needed to address the Yangdoctors review.</a:t>
            </a:r>
          </a:p>
          <a:p>
            <a:r>
              <a:rPr lang="de-CH" sz="1200" b="1" dirty="0">
                <a:hlinkClick r:id="rId5"/>
              </a:rPr>
              <a:t>draft-ietf-bmwg-sr-bench-meth</a:t>
            </a:r>
            <a:r>
              <a:rPr lang="de-CH" sz="1200" b="1" dirty="0"/>
              <a:t> </a:t>
            </a:r>
            <a:r>
              <a:rPr lang="de-CH" sz="1200" dirty="0"/>
              <a:t>preparing for the WGLC.</a:t>
            </a:r>
          </a:p>
          <a:p>
            <a:r>
              <a:rPr lang="de-CH" sz="1200" b="1" dirty="0">
                <a:hlinkClick r:id="rId6"/>
              </a:rPr>
              <a:t>draft-ietf-bmwg-powerbench</a:t>
            </a:r>
            <a:r>
              <a:rPr lang="de-CH" sz="1200" b="1" dirty="0"/>
              <a:t> </a:t>
            </a:r>
            <a:r>
              <a:rPr lang="de-CH" sz="1200" dirty="0"/>
              <a:t>just adopted.</a:t>
            </a:r>
          </a:p>
          <a:p>
            <a:r>
              <a:rPr lang="de-CH" sz="1200" dirty="0"/>
              <a:t>Resumed the discussion for revisiting BMWG RFCs in order to update RFC 2544.</a:t>
            </a:r>
          </a:p>
        </p:txBody>
      </p:sp>
      <p:sp>
        <p:nvSpPr>
          <p:cNvPr id="7" name="Text Placeholder 2">
            <a:extLst>
              <a:ext uri="{FF2B5EF4-FFF2-40B4-BE49-F238E27FC236}">
                <a16:creationId xmlns:a16="http://schemas.microsoft.com/office/drawing/2014/main" id="{C14FDDA7-186A-40C6-8EC3-6D66D9D98819}"/>
              </a:ext>
            </a:extLst>
          </p:cNvPr>
          <p:cNvSpPr txBox="1">
            <a:spLocks/>
          </p:cNvSpPr>
          <p:nvPr/>
        </p:nvSpPr>
        <p:spPr>
          <a:xfrm>
            <a:off x="4499419" y="1851077"/>
            <a:ext cx="4197503" cy="2802986"/>
          </a:xfrm>
          <a:prstGeom prst="rect">
            <a:avLst/>
          </a:prstGeom>
          <a:noFill/>
          <a:ln>
            <a:noFill/>
          </a:ln>
        </p:spPr>
        <p:txBody>
          <a:bodyPr spcFirstLastPara="1" wrap="square" lIns="91400" tIns="91400" rIns="91400" bIns="91400"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rgbClr val="002D3C"/>
              </a:buClr>
              <a:buSzPts val="1800"/>
              <a:buFont typeface="Inter"/>
              <a:buChar char="●"/>
              <a:defRPr sz="1800" b="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b="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b="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b="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b="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b="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b="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b="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b="0" i="0" u="none" strike="noStrike" cap="none">
                <a:solidFill>
                  <a:srgbClr val="737373"/>
                </a:solidFill>
                <a:latin typeface="Inter"/>
                <a:ea typeface="Inter"/>
                <a:cs typeface="Inter"/>
                <a:sym typeface="Inter"/>
              </a:defRPr>
            </a:lvl9pPr>
          </a:lstStyle>
          <a:p>
            <a:pPr marL="114300" indent="0">
              <a:buFont typeface="Inter"/>
              <a:buNone/>
            </a:pPr>
            <a:r>
              <a:rPr lang="de-CH" sz="1600" b="1" dirty="0"/>
              <a:t>IPPM</a:t>
            </a:r>
            <a:endParaRPr lang="de-CH" sz="1600" b="1" dirty="0">
              <a:hlinkClick r:id="rId3"/>
            </a:endParaRPr>
          </a:p>
          <a:p>
            <a:r>
              <a:rPr lang="en-US" sz="1200" b="1" dirty="0">
                <a:hlinkClick r:id="rId7"/>
              </a:rPr>
              <a:t>draft-</a:t>
            </a:r>
            <a:r>
              <a:rPr lang="en-US" sz="1200" b="1" dirty="0" err="1">
                <a:hlinkClick r:id="rId7"/>
              </a:rPr>
              <a:t>ietf</a:t>
            </a:r>
            <a:r>
              <a:rPr lang="en-US" sz="1200" b="1" dirty="0">
                <a:hlinkClick r:id="rId7"/>
              </a:rPr>
              <a:t>-ippm-capacity-protocol</a:t>
            </a:r>
            <a:r>
              <a:rPr lang="en-US" sz="1200" b="1" dirty="0"/>
              <a:t> </a:t>
            </a:r>
            <a:r>
              <a:rPr lang="en-US" sz="1200" dirty="0"/>
              <a:t>approved by IESG.</a:t>
            </a:r>
          </a:p>
          <a:p>
            <a:r>
              <a:rPr lang="en-US" sz="1200" b="1" dirty="0">
                <a:hlinkClick r:id="rId8"/>
              </a:rPr>
              <a:t>draft-</a:t>
            </a:r>
            <a:r>
              <a:rPr lang="en-US" sz="1200" b="1" dirty="0" err="1">
                <a:hlinkClick r:id="rId8"/>
              </a:rPr>
              <a:t>ietf</a:t>
            </a:r>
            <a:r>
              <a:rPr lang="en-US" sz="1200" b="1" dirty="0">
                <a:hlinkClick r:id="rId8"/>
              </a:rPr>
              <a:t>-ippm-asymmetrical-pkts</a:t>
            </a:r>
            <a:r>
              <a:rPr lang="en-US" sz="1200" b="1" dirty="0"/>
              <a:t> </a:t>
            </a:r>
            <a:r>
              <a:rPr lang="en-US" sz="1200" dirty="0"/>
              <a:t>and</a:t>
            </a:r>
            <a:r>
              <a:rPr lang="en-US" sz="1200" b="1" dirty="0"/>
              <a:t> </a:t>
            </a:r>
            <a:r>
              <a:rPr lang="en-US" sz="1200" b="1" dirty="0">
                <a:hlinkClick r:id="rId9"/>
              </a:rPr>
              <a:t>draft-</a:t>
            </a:r>
            <a:r>
              <a:rPr lang="en-US" sz="1200" b="1" dirty="0" err="1">
                <a:hlinkClick r:id="rId9"/>
              </a:rPr>
              <a:t>ietf</a:t>
            </a:r>
            <a:r>
              <a:rPr lang="en-US" sz="1200" b="1" dirty="0">
                <a:hlinkClick r:id="rId9"/>
              </a:rPr>
              <a:t>-ippm-hybrid-two-step</a:t>
            </a:r>
            <a:r>
              <a:rPr lang="en-US" sz="1200" b="1" dirty="0"/>
              <a:t> </a:t>
            </a:r>
            <a:r>
              <a:rPr lang="en-US" sz="1200" dirty="0"/>
              <a:t>has been passed on to IESG.</a:t>
            </a:r>
          </a:p>
          <a:p>
            <a:r>
              <a:rPr lang="en-US" sz="1200" b="1" dirty="0">
                <a:hlinkClick r:id="rId9"/>
              </a:rPr>
              <a:t>draft-</a:t>
            </a:r>
            <a:r>
              <a:rPr lang="en-US" sz="1200" b="1" dirty="0" err="1">
                <a:hlinkClick r:id="rId9"/>
              </a:rPr>
              <a:t>ietf</a:t>
            </a:r>
            <a:r>
              <a:rPr lang="en-US" sz="1200" b="1" dirty="0">
                <a:hlinkClick r:id="rId9"/>
              </a:rPr>
              <a:t>-ippm-hybrid-two-step</a:t>
            </a:r>
            <a:r>
              <a:rPr lang="en-US" sz="1200" b="1" dirty="0"/>
              <a:t> </a:t>
            </a:r>
            <a:r>
              <a:rPr lang="en-US" sz="1200" dirty="0"/>
              <a:t>received OPS AD review.</a:t>
            </a:r>
          </a:p>
          <a:p>
            <a:r>
              <a:rPr lang="en-US" sz="1200" b="1" dirty="0">
                <a:hlinkClick r:id="rId10"/>
              </a:rPr>
              <a:t>draft-</a:t>
            </a:r>
            <a:r>
              <a:rPr lang="en-US" sz="1200" b="1" dirty="0" err="1">
                <a:hlinkClick r:id="rId10"/>
              </a:rPr>
              <a:t>ietf</a:t>
            </a:r>
            <a:r>
              <a:rPr lang="en-US" sz="1200" b="1" dirty="0">
                <a:hlinkClick r:id="rId10"/>
              </a:rPr>
              <a:t>-ippm-</a:t>
            </a:r>
            <a:r>
              <a:rPr lang="en-US" sz="1200" b="1" dirty="0" err="1">
                <a:hlinkClick r:id="rId10"/>
              </a:rPr>
              <a:t>qoo</a:t>
            </a:r>
            <a:r>
              <a:rPr lang="en-US" sz="1200" b="1" dirty="0"/>
              <a:t> </a:t>
            </a:r>
            <a:r>
              <a:rPr lang="en-US" sz="1200" dirty="0"/>
              <a:t>publication request.</a:t>
            </a:r>
          </a:p>
          <a:p>
            <a:r>
              <a:rPr lang="en-US" sz="1200" b="1" dirty="0">
                <a:hlinkClick r:id="rId11"/>
              </a:rPr>
              <a:t>draft-</a:t>
            </a:r>
            <a:r>
              <a:rPr lang="en-US" sz="1200" b="1" dirty="0" err="1">
                <a:hlinkClick r:id="rId11"/>
              </a:rPr>
              <a:t>iuzh</a:t>
            </a:r>
            <a:r>
              <a:rPr lang="en-US" sz="1200" b="1" dirty="0">
                <a:hlinkClick r:id="rId11"/>
              </a:rPr>
              <a:t>-ippm-</a:t>
            </a:r>
            <a:r>
              <a:rPr lang="en-US" sz="1200" b="1" dirty="0" err="1">
                <a:hlinkClick r:id="rId11"/>
              </a:rPr>
              <a:t>ioam</a:t>
            </a:r>
            <a:r>
              <a:rPr lang="en-US" sz="1200" b="1" dirty="0">
                <a:hlinkClick r:id="rId11"/>
              </a:rPr>
              <a:t>-integrity-yang</a:t>
            </a:r>
            <a:r>
              <a:rPr lang="en-US" sz="1200" dirty="0"/>
              <a:t> adoption call is currently running.</a:t>
            </a:r>
          </a:p>
        </p:txBody>
      </p:sp>
    </p:spTree>
    <p:extLst>
      <p:ext uri="{BB962C8B-B14F-4D97-AF65-F5344CB8AC3E}">
        <p14:creationId xmlns:p14="http://schemas.microsoft.com/office/powerpoint/2010/main" val="13727423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a:xfrm>
            <a:off x="471899" y="218223"/>
            <a:ext cx="8395009" cy="1288203"/>
          </a:xfrm>
        </p:spPr>
        <p:txBody>
          <a:bodyPr anchor="ctr"/>
          <a:lstStyle/>
          <a:p>
            <a:r>
              <a:rPr lang="en-US" sz="3200" dirty="0"/>
              <a:t>Liaisons Updates</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11</a:t>
            </a:fld>
            <a:endParaRPr lang="en-US" dirty="0"/>
          </a:p>
        </p:txBody>
      </p:sp>
      <p:sp>
        <p:nvSpPr>
          <p:cNvPr id="3" name="Text Placeholder 2">
            <a:extLst>
              <a:ext uri="{FF2B5EF4-FFF2-40B4-BE49-F238E27FC236}">
                <a16:creationId xmlns:a16="http://schemas.microsoft.com/office/drawing/2014/main" id="{FED4E835-D652-159B-D0CD-7FC58A509645}"/>
              </a:ext>
            </a:extLst>
          </p:cNvPr>
          <p:cNvSpPr>
            <a:spLocks noGrp="1"/>
          </p:cNvSpPr>
          <p:nvPr>
            <p:ph type="body" idx="1"/>
          </p:nvPr>
        </p:nvSpPr>
        <p:spPr>
          <a:xfrm>
            <a:off x="301916" y="1851076"/>
            <a:ext cx="8392084" cy="2802986"/>
          </a:xfrm>
          <a:noFill/>
          <a:ln>
            <a:noFill/>
          </a:ln>
        </p:spPr>
        <p:txBody>
          <a:bodyPr spcFirstLastPara="1" wrap="square" lIns="91400" tIns="91400" rIns="91400" bIns="91400" anchor="t" anchorCtr="0">
            <a:noAutofit/>
          </a:bodyPr>
          <a:lstStyle/>
          <a:p>
            <a:pPr>
              <a:lnSpc>
                <a:spcPct val="100000"/>
              </a:lnSpc>
            </a:pPr>
            <a:r>
              <a:rPr lang="en-US" sz="1500" dirty="0"/>
              <a:t>LS out to ITU-T SG11 for SR Benchmark – Waiting of the Liaison Manager to post the LS</a:t>
            </a:r>
          </a:p>
          <a:p>
            <a:pPr>
              <a:lnSpc>
                <a:spcPct val="100000"/>
              </a:lnSpc>
            </a:pPr>
            <a:endParaRPr lang="en-US" sz="1500" dirty="0"/>
          </a:p>
          <a:p>
            <a:pPr>
              <a:lnSpc>
                <a:spcPct val="100000"/>
              </a:lnSpc>
            </a:pPr>
            <a:r>
              <a:rPr lang="en-US" sz="1500" dirty="0"/>
              <a:t>LS out to BBF for Quality of Outcome (</a:t>
            </a:r>
            <a:r>
              <a:rPr lang="en-US" sz="1500" dirty="0" err="1"/>
              <a:t>QoO</a:t>
            </a:r>
            <a:r>
              <a:rPr lang="en-US" sz="1500" dirty="0"/>
              <a:t>) – Sent</a:t>
            </a:r>
          </a:p>
          <a:p>
            <a:pPr>
              <a:lnSpc>
                <a:spcPct val="100000"/>
              </a:lnSpc>
            </a:pPr>
            <a:endParaRPr lang="en-US" sz="1500" dirty="0"/>
          </a:p>
          <a:p>
            <a:pPr>
              <a:lnSpc>
                <a:spcPct val="100000"/>
              </a:lnSpc>
            </a:pPr>
            <a:r>
              <a:rPr lang="en-US" sz="1500" dirty="0"/>
              <a:t>LS out to ITU-T SG12 once </a:t>
            </a:r>
            <a:r>
              <a:rPr lang="en-US" sz="1500" dirty="0" err="1"/>
              <a:t>QoO</a:t>
            </a:r>
            <a:r>
              <a:rPr lang="en-US" sz="1500" dirty="0"/>
              <a:t> is published – Planned </a:t>
            </a:r>
          </a:p>
          <a:p>
            <a:pPr lvl="1">
              <a:lnSpc>
                <a:spcPct val="100000"/>
              </a:lnSpc>
            </a:pPr>
            <a:r>
              <a:rPr lang="en-US" sz="1400" dirty="0"/>
              <a:t>Also, thank Ruediger for socializing the work there and collecting early feedback.</a:t>
            </a:r>
            <a:endParaRPr lang="de-CH" sz="1400" dirty="0"/>
          </a:p>
          <a:p>
            <a:pPr>
              <a:lnSpc>
                <a:spcPct val="100000"/>
              </a:lnSpc>
            </a:pPr>
            <a:endParaRPr lang="en-US" sz="1500" dirty="0"/>
          </a:p>
        </p:txBody>
      </p:sp>
    </p:spTree>
    <p:extLst>
      <p:ext uri="{BB962C8B-B14F-4D97-AF65-F5344CB8AC3E}">
        <p14:creationId xmlns:p14="http://schemas.microsoft.com/office/powerpoint/2010/main" val="38969085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Shape 127"/>
        <p:cNvGrpSpPr/>
        <p:nvPr/>
      </p:nvGrpSpPr>
      <p:grpSpPr>
        <a:xfrm>
          <a:off x="0" y="0"/>
          <a:ext cx="0" cy="0"/>
          <a:chOff x="0" y="0"/>
          <a:chExt cx="0" cy="0"/>
        </a:xfrm>
      </p:grpSpPr>
      <p:sp>
        <p:nvSpPr>
          <p:cNvPr id="128" name="Google Shape;128;p23"/>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lvl="0"/>
            <a:r>
              <a:rPr lang="en-US" dirty="0"/>
              <a:t>Resources for interim-2025-01</a:t>
            </a:r>
            <a:endParaRPr dirty="0"/>
          </a:p>
          <a:p>
            <a:pPr marL="0" marR="0" lvl="0" indent="0" algn="l" rtl="0">
              <a:lnSpc>
                <a:spcPct val="100000"/>
              </a:lnSpc>
              <a:spcBef>
                <a:spcPts val="0"/>
              </a:spcBef>
              <a:spcAft>
                <a:spcPts val="0"/>
              </a:spcAft>
              <a:buClr>
                <a:srgbClr val="FFFFFF"/>
              </a:buClr>
              <a:buSzPts val="3600"/>
              <a:buFont typeface="Open Sans"/>
              <a:buNone/>
            </a:pPr>
            <a:endParaRPr sz="2400" dirty="0">
              <a:solidFill>
                <a:srgbClr val="FFFFFF"/>
              </a:solidFill>
            </a:endParaRPr>
          </a:p>
        </p:txBody>
      </p:sp>
      <p:sp>
        <p:nvSpPr>
          <p:cNvPr id="129" name="Google Shape;129;p23"/>
          <p:cNvSpPr txBox="1">
            <a:spLocks noGrp="1"/>
          </p:cNvSpPr>
          <p:nvPr>
            <p:ph type="body" idx="1"/>
          </p:nvPr>
        </p:nvSpPr>
        <p:spPr>
          <a:xfrm>
            <a:off x="471900" y="1919074"/>
            <a:ext cx="8600428" cy="2710200"/>
          </a:xfrm>
          <a:prstGeom prst="rect">
            <a:avLst/>
          </a:prstGeom>
          <a:noFill/>
          <a:ln>
            <a:noFill/>
          </a:ln>
        </p:spPr>
        <p:txBody>
          <a:bodyPr spcFirstLastPara="1" wrap="square" lIns="91400" tIns="91400" rIns="91400" bIns="91400" anchor="t" anchorCtr="0">
            <a:noAutofit/>
          </a:bodyPr>
          <a:lstStyle/>
          <a:p>
            <a:pPr lvl="0">
              <a:lnSpc>
                <a:spcPct val="110000"/>
              </a:lnSpc>
              <a:spcBef>
                <a:spcPts val="300"/>
              </a:spcBef>
              <a:buClr>
                <a:srgbClr val="000000"/>
              </a:buClr>
            </a:pPr>
            <a:r>
              <a:rPr lang="en-US" dirty="0">
                <a:solidFill>
                  <a:srgbClr val="000000"/>
                </a:solidFill>
              </a:rPr>
              <a:t>Agenda</a:t>
            </a:r>
            <a:br>
              <a:rPr lang="en-US" b="1" dirty="0">
                <a:solidFill>
                  <a:srgbClr val="000000"/>
                </a:solidFill>
              </a:rPr>
            </a:br>
            <a:r>
              <a:rPr lang="en-US" u="sng" dirty="0">
                <a:solidFill>
                  <a:schemeClr val="hlink"/>
                </a:solidFill>
              </a:rPr>
              <a:t>https://datatracker.ietf.org/meeting/interim-2025-ippm-01/session/ippm</a:t>
            </a:r>
          </a:p>
          <a:p>
            <a:pPr lvl="0">
              <a:lnSpc>
                <a:spcPct val="110000"/>
              </a:lnSpc>
              <a:spcBef>
                <a:spcPts val="300"/>
              </a:spcBef>
              <a:buClr>
                <a:srgbClr val="000000"/>
              </a:buClr>
            </a:pPr>
            <a:r>
              <a:rPr lang="en-US" dirty="0" err="1">
                <a:solidFill>
                  <a:srgbClr val="000000"/>
                </a:solidFill>
              </a:rPr>
              <a:t>Meetecho</a:t>
            </a:r>
            <a:r>
              <a:rPr lang="en-US" dirty="0">
                <a:solidFill>
                  <a:srgbClr val="000000"/>
                </a:solidFill>
              </a:rPr>
              <a:t> and other information:</a:t>
            </a:r>
            <a:br>
              <a:rPr lang="en-US" dirty="0">
                <a:solidFill>
                  <a:srgbClr val="000000"/>
                </a:solidFill>
              </a:rPr>
            </a:br>
            <a:r>
              <a:rPr lang="en-US" u="sng" dirty="0">
                <a:solidFill>
                  <a:schemeClr val="hlink"/>
                </a:solidFill>
                <a:hlinkClick r:id="rId3"/>
              </a:rPr>
              <a:t>https://www.ietf.org/how/meetings/preparation</a:t>
            </a:r>
            <a:r>
              <a:rPr lang="en-US" dirty="0">
                <a:solidFill>
                  <a:srgbClr val="000000"/>
                </a:solidFill>
              </a:rPr>
              <a:t> </a:t>
            </a:r>
            <a:endParaRPr dirty="0">
              <a:solidFill>
                <a:srgbClr val="000000"/>
              </a:solidFill>
            </a:endParaRPr>
          </a:p>
          <a:p>
            <a:pPr marL="457200" marR="0" lvl="0" indent="-342900" algn="l" rtl="0">
              <a:lnSpc>
                <a:spcPct val="110000"/>
              </a:lnSpc>
              <a:spcBef>
                <a:spcPts val="0"/>
              </a:spcBef>
              <a:spcAft>
                <a:spcPts val="0"/>
              </a:spcAft>
              <a:buClr>
                <a:srgbClr val="000000"/>
              </a:buClr>
              <a:buSzPts val="1800"/>
              <a:buChar char="●"/>
            </a:pPr>
            <a:r>
              <a:rPr lang="en-US" dirty="0">
                <a:solidFill>
                  <a:srgbClr val="000000"/>
                </a:solidFill>
              </a:rPr>
              <a:t>If you need technical assistance, see the Reporting Issues page:</a:t>
            </a:r>
            <a:br>
              <a:rPr lang="en-US" dirty="0">
                <a:solidFill>
                  <a:srgbClr val="000000"/>
                </a:solidFill>
              </a:rPr>
            </a:br>
            <a:r>
              <a:rPr lang="en-US" u="sng" dirty="0">
                <a:solidFill>
                  <a:schemeClr val="hlink"/>
                </a:solidFill>
                <a:hlinkClick r:id="rId4"/>
              </a:rPr>
              <a:t>http://www.ietf.org/how/meetings/issues/</a:t>
            </a:r>
            <a:endParaRPr dirty="0">
              <a:solidFill>
                <a:srgbClr val="000000"/>
              </a:solidFill>
            </a:endParaRPr>
          </a:p>
        </p:txBody>
      </p:sp>
      <p:sp>
        <p:nvSpPr>
          <p:cNvPr id="130" name="Google Shape;130;p23"/>
          <p:cNvSpPr txBox="1">
            <a:spLocks noGrp="1"/>
          </p:cNvSpPr>
          <p:nvPr>
            <p:ph type="sldNum" idx="12"/>
          </p:nvPr>
        </p:nvSpPr>
        <p:spPr>
          <a:xfrm>
            <a:off x="8694000" y="4724798"/>
            <a:ext cx="378328"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12</a:t>
            </a:fld>
            <a:endParaRPr dirty="0"/>
          </a:p>
        </p:txBody>
      </p:sp>
    </p:spTree>
  </p:cSld>
  <p:clrMapOvr>
    <a:masterClrMapping/>
  </p:clrMapOvr>
</p:sld>
</file>

<file path=ppt/theme/theme1.xml><?xml version="1.0" encoding="utf-8"?>
<a:theme xmlns:a="http://schemas.openxmlformats.org/drawingml/2006/main" name="Material">
  <a:themeElements>
    <a:clrScheme name="Material">
      <a:dk1>
        <a:srgbClr val="002D3C"/>
      </a:dk1>
      <a:lt1>
        <a:srgbClr val="4285F4"/>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Material">
  <a:themeElements>
    <a:clrScheme name="Material">
      <a:dk1>
        <a:srgbClr val="000000"/>
      </a:dk1>
      <a:lt1>
        <a:srgbClr val="FFFFFF"/>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3e5e162a-5953-4fde-83b3-9639e6ab13bb"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kument" ma:contentTypeID="0x01010028792A905D4FBE4781303B372FFF56B7" ma:contentTypeVersion="18" ma:contentTypeDescription="Ein neues Dokument erstellen." ma:contentTypeScope="" ma:versionID="1bed101c48ab8d637c0f10f3a19033d6">
  <xsd:schema xmlns:xsd="http://www.w3.org/2001/XMLSchema" xmlns:xs="http://www.w3.org/2001/XMLSchema" xmlns:p="http://schemas.microsoft.com/office/2006/metadata/properties" xmlns:ns3="3e5e162a-5953-4fde-83b3-9639e6ab13bb" xmlns:ns4="266fa233-377d-43d6-82a1-e70154e55ff7" targetNamespace="http://schemas.microsoft.com/office/2006/metadata/properties" ma:root="true" ma:fieldsID="ad54ca06dfd6fdd081bd33575dcf7e57" ns3:_="" ns4:_="">
    <xsd:import namespace="3e5e162a-5953-4fde-83b3-9639e6ab13bb"/>
    <xsd:import namespace="266fa233-377d-43d6-82a1-e70154e55ff7"/>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Location" minOccurs="0"/>
                <xsd:element ref="ns3:MediaServiceOCR" minOccurs="0"/>
                <xsd:element ref="ns3:MediaServiceGenerationTime" minOccurs="0"/>
                <xsd:element ref="ns3:MediaServiceEventHashCode" minOccurs="0"/>
                <xsd:element ref="ns4:SharedWithUsers" minOccurs="0"/>
                <xsd:element ref="ns4:SharedWithDetails" minOccurs="0"/>
                <xsd:element ref="ns4:SharingHintHash" minOccurs="0"/>
                <xsd:element ref="ns3:MediaServiceAutoKeyPoints" minOccurs="0"/>
                <xsd:element ref="ns3:MediaServiceKeyPoints" minOccurs="0"/>
                <xsd:element ref="ns3:MediaLengthInSeconds" minOccurs="0"/>
                <xsd:element ref="ns3:_activity"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e5e162a-5953-4fde-83b3-9639e6ab13b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Location" ma:index="12" nillable="true" ma:displayName="Location" ma:internalName="MediaServiceLocation"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66fa233-377d-43d6-82a1-e70154e55ff7" elementFormDefault="qualified">
    <xsd:import namespace="http://schemas.microsoft.com/office/2006/documentManagement/types"/>
    <xsd:import namespace="http://schemas.microsoft.com/office/infopath/2007/PartnerControls"/>
    <xsd:element name="SharedWithUsers" ma:index="16"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Freigegeben für - Details" ma:internalName="SharedWithDetails" ma:readOnly="true">
      <xsd:simpleType>
        <xsd:restriction base="dms:Note">
          <xsd:maxLength value="255"/>
        </xsd:restriction>
      </xsd:simpleType>
    </xsd:element>
    <xsd:element name="SharingHintHash" ma:index="18" nillable="true" ma:displayName="Freigabehinweis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104BBC9-6B71-4DC1-A0E0-1E198363AC7F}">
  <ds:schemaRefs>
    <ds:schemaRef ds:uri="http://schemas.microsoft.com/sharepoint/v3/contenttype/forms"/>
  </ds:schemaRefs>
</ds:datastoreItem>
</file>

<file path=customXml/itemProps2.xml><?xml version="1.0" encoding="utf-8"?>
<ds:datastoreItem xmlns:ds="http://schemas.openxmlformats.org/officeDocument/2006/customXml" ds:itemID="{3D7021EF-4D3D-4708-92FB-F2CD02CEF7A1}">
  <ds:schemaRef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http://schemas.microsoft.com/office/2006/metadata/properties"/>
    <ds:schemaRef ds:uri="3e5e162a-5953-4fde-83b3-9639e6ab13bb"/>
    <ds:schemaRef ds:uri="266fa233-377d-43d6-82a1-e70154e55ff7"/>
    <ds:schemaRef ds:uri="http://purl.org/dc/terms/"/>
    <ds:schemaRef ds:uri="http://www.w3.org/XML/1998/namespace"/>
    <ds:schemaRef ds:uri="http://purl.org/dc/dcmitype/"/>
  </ds:schemaRefs>
</ds:datastoreItem>
</file>

<file path=customXml/itemProps3.xml><?xml version="1.0" encoding="utf-8"?>
<ds:datastoreItem xmlns:ds="http://schemas.openxmlformats.org/officeDocument/2006/customXml" ds:itemID="{F4805544-B524-4E4A-B7C1-6ABFC599928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e5e162a-5953-4fde-83b3-9639e6ab13bb"/>
    <ds:schemaRef ds:uri="266fa233-377d-43d6-82a1-e70154e55ff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2e1fccfb-80ca-4fe1-a574-1516544edb53}" enabled="1" method="Standard" siteId="{364e5b87-c1c7-420d-9bee-c35d19b557a1}" removed="0"/>
  <clbl:label id="{92e84ceb-fbfd-47ab-be52-080c6b87953f}" enabled="0" method="" siteId="{92e84ceb-fbfd-47ab-be52-080c6b87953f}" removed="1"/>
</clbl:labelList>
</file>

<file path=docProps/app.xml><?xml version="1.0" encoding="utf-8"?>
<Properties xmlns="http://schemas.openxmlformats.org/officeDocument/2006/extended-properties" xmlns:vt="http://schemas.openxmlformats.org/officeDocument/2006/docPropsVTypes">
  <TotalTime>0</TotalTime>
  <Words>1147</Words>
  <Application>Microsoft Office PowerPoint</Application>
  <PresentationFormat>On-screen Show (16:9)</PresentationFormat>
  <Paragraphs>86</Paragraphs>
  <Slides>12</Slides>
  <Notes>12</Notes>
  <HiddenSlides>1</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12</vt:i4>
      </vt:variant>
    </vt:vector>
  </HeadingPairs>
  <TitlesOfParts>
    <vt:vector size="22" baseType="lpstr">
      <vt:lpstr>Montserrat</vt:lpstr>
      <vt:lpstr>Open Sans</vt:lpstr>
      <vt:lpstr>Open Sans SemiBold</vt:lpstr>
      <vt:lpstr>Arial</vt:lpstr>
      <vt:lpstr>Roboto</vt:lpstr>
      <vt:lpstr>Open Sans Medium</vt:lpstr>
      <vt:lpstr>Inter</vt:lpstr>
      <vt:lpstr>Material</vt:lpstr>
      <vt:lpstr>IETF Template</vt:lpstr>
      <vt:lpstr>1_IETF Template</vt:lpstr>
      <vt:lpstr>BMWG &amp; IPPM interim-2025-01</vt:lpstr>
      <vt:lpstr>Note Well</vt:lpstr>
      <vt:lpstr>IETF interim-2025-01 Meeting Tips</vt:lpstr>
      <vt:lpstr>Joint BMWG and IPPM Meeting</vt:lpstr>
      <vt:lpstr>BMWG charter</vt:lpstr>
      <vt:lpstr>IPPM charter</vt:lpstr>
      <vt:lpstr>Notetaker</vt:lpstr>
      <vt:lpstr>Agenda – Proposed Work</vt:lpstr>
      <vt:lpstr>Joint Chartering Discussion</vt:lpstr>
      <vt:lpstr>BMWG and IPPM Document Updates</vt:lpstr>
      <vt:lpstr>Liaisons Updates</vt:lpstr>
      <vt:lpstr>Resources for interim-2025-01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IETF 123 BMWG &amp; IPPM</dc:title>
  <dc:creator>Graf Thomas, INI-NET-VNC-E2E</dc:creator>
  <cp:lastModifiedBy>Graf Thomas, SCS-INI-NET-VNC-E2E</cp:lastModifiedBy>
  <cp:revision>35</cp:revision>
  <dcterms:modified xsi:type="dcterms:W3CDTF">2025-11-20T06:34:28Z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0x01010028792A905D4FBE4781303B372FFF56B7</vt:lpwstr>
  </property>
  <property fmtid="{D5CDD505-2E9C-101B-9397-08002B2CF9AE}" pid="3" name="_readonly">
    <vt:lpwstr/>
  </property>
  <property fmtid="{D5CDD505-2E9C-101B-9397-08002B2CF9AE}" pid="4" name="_change">
    <vt:lpwstr/>
  </property>
  <property fmtid="{D5CDD505-2E9C-101B-9397-08002B2CF9AE}" pid="5" name="_full-control">
    <vt:lpwstr/>
  </property>
  <property fmtid="{D5CDD505-2E9C-101B-9397-08002B2CF9AE}" pid="6" name="sflag">
    <vt:lpwstr>1763567123</vt:lpwstr>
  </property>
</Properties>
</file>