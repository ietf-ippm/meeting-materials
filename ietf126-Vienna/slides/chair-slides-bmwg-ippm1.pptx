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4"/>
    <p:sldMasterId id="2147483665" r:id="rId5"/>
    <p:sldMasterId id="2147483666" r:id="rId6"/>
  </p:sldMasterIdLst>
  <p:notesMasterIdLst>
    <p:notesMasterId r:id="rId21"/>
  </p:notesMasterIdLst>
  <p:sldIdLst>
    <p:sldId id="256" r:id="rId7"/>
    <p:sldId id="272" r:id="rId8"/>
    <p:sldId id="258" r:id="rId9"/>
    <p:sldId id="259" r:id="rId10"/>
    <p:sldId id="268" r:id="rId11"/>
    <p:sldId id="267" r:id="rId12"/>
    <p:sldId id="261" r:id="rId13"/>
    <p:sldId id="263" r:id="rId14"/>
    <p:sldId id="264" r:id="rId15"/>
    <p:sldId id="271" r:id="rId16"/>
    <p:sldId id="266" r:id="rId17"/>
    <p:sldId id="269" r:id="rId18"/>
    <p:sldId id="273" r:id="rId19"/>
    <p:sldId id="260" r:id="rId20"/>
  </p:sldIdLst>
  <p:sldSz cx="9144000" cy="5143500" type="screen16x9"/>
  <p:notesSz cx="6858000" cy="9144000"/>
  <p:embeddedFontLst>
    <p:embeddedFont>
      <p:font typeface="Inter" panose="020B0604020202020204" charset="0"/>
      <p:regular r:id="rId22"/>
      <p:bold r:id="rId23"/>
      <p:italic r:id="rId24"/>
      <p:boldItalic r:id="rId25"/>
    </p:embeddedFont>
    <p:embeddedFont>
      <p:font typeface="Montserrat" panose="00000500000000000000" pitchFamily="2" charset="0"/>
      <p:regular r:id="rId26"/>
      <p:bold r:id="rId27"/>
      <p:italic r:id="rId28"/>
      <p:boldItalic r:id="rId29"/>
    </p:embeddedFont>
    <p:embeddedFont>
      <p:font typeface="Open Sans" panose="020B0606030504020204" pitchFamily="34" charset="0"/>
      <p:regular r:id="rId30"/>
      <p:bold r:id="rId31"/>
      <p:italic r:id="rId32"/>
      <p:boldItalic r:id="rId33"/>
    </p:embeddedFont>
    <p:embeddedFont>
      <p:font typeface="Open Sans Medium" panose="020B0604020202020204" charset="0"/>
      <p:regular r:id="rId34"/>
      <p:bold r:id="rId35"/>
      <p:italic r:id="rId36"/>
      <p:boldItalic r:id="rId37"/>
    </p:embeddedFont>
    <p:embeddedFont>
      <p:font typeface="Open Sans SemiBold" panose="020B0706030804020204" pitchFamily="34" charset="0"/>
      <p:bold r:id="rId38"/>
      <p:boldItalic r:id="rId39"/>
    </p:embeddedFont>
    <p:embeddedFont>
      <p:font typeface="Roboto" panose="020000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10.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font" Target="fonts/font2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Ihlar" userId="3466507a-8f95-47f2-ae1b-ce7d6ca611a4" providerId="ADAL" clId="{3438F4FC-D214-4A35-B915-405844213C8B}"/>
    <pc:docChg chg="undo custSel modSld">
      <pc:chgData name="Marcus Ihlar" userId="3466507a-8f95-47f2-ae1b-ce7d6ca611a4" providerId="ADAL" clId="{3438F4FC-D214-4A35-B915-405844213C8B}" dt="2026-07-22T07:31:56.144" v="2" actId="20577"/>
      <pc:docMkLst>
        <pc:docMk/>
      </pc:docMkLst>
      <pc:sldChg chg="modSp mod">
        <pc:chgData name="Marcus Ihlar" userId="3466507a-8f95-47f2-ae1b-ce7d6ca611a4" providerId="ADAL" clId="{3438F4FC-D214-4A35-B915-405844213C8B}" dt="2026-07-22T07:31:56.144" v="2" actId="20577"/>
        <pc:sldMkLst>
          <pc:docMk/>
          <pc:sldMk cId="2128497270" sldId="269"/>
        </pc:sldMkLst>
        <pc:spChg chg="mod">
          <ac:chgData name="Marcus Ihlar" userId="3466507a-8f95-47f2-ae1b-ce7d6ca611a4" providerId="ADAL" clId="{3438F4FC-D214-4A35-B915-405844213C8B}" dt="2026-07-22T07:31:56.144" v="2" actId="20577"/>
          <ac:spMkLst>
            <pc:docMk/>
            <pc:sldMk cId="2128497270" sldId="269"/>
            <ac:spMk id="3" creationId="{FED4E835-D652-159B-D0CD-7FC58A5096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a9a795ff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ga9a795ffb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5337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220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23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53003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7204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108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4723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06AFD-D99E-BD69-00B5-F84181FF9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47881-52C4-2732-BACB-844055D6ADB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33A933B-77D8-8EA8-6278-6B194CFC462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5668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71a2a6c77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g71a2a6c778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3"/>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600"/>
              <a:buFont typeface="Inter"/>
              <a:buNone/>
              <a:defRPr sz="36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8" name="Google Shape;18;p3"/>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19" name="Google Shape;19;p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
        <p:cNvGrpSpPr/>
        <p:nvPr/>
      </p:nvGrpSpPr>
      <p:grpSpPr>
        <a:xfrm>
          <a:off x="0" y="0"/>
          <a:ext cx="0" cy="0"/>
          <a:chOff x="0" y="0"/>
          <a:chExt cx="0" cy="0"/>
        </a:xfrm>
      </p:grpSpPr>
      <p:sp>
        <p:nvSpPr>
          <p:cNvPr id="10" name="Google Shape;10;p2"/>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13" name="Google Shape;13;p2"/>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14" name="Google Shape;14;p2"/>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extLst>
      <p:ext uri="{BB962C8B-B14F-4D97-AF65-F5344CB8AC3E}">
        <p14:creationId xmlns:p14="http://schemas.microsoft.com/office/powerpoint/2010/main" val="159514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17" name="Google Shape;17;p3"/>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18" name="Google Shape;18;p3"/>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 name="Google Shape;20;p3"/>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21" name="Google Shape;21;p3"/>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extLst>
      <p:ext uri="{BB962C8B-B14F-4D97-AF65-F5344CB8AC3E}">
        <p14:creationId xmlns:p14="http://schemas.microsoft.com/office/powerpoint/2010/main" val="4074776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2"/>
        <p:cNvGrpSpPr/>
        <p:nvPr/>
      </p:nvGrpSpPr>
      <p:grpSpPr>
        <a:xfrm>
          <a:off x="0" y="0"/>
          <a:ext cx="0" cy="0"/>
          <a:chOff x="0" y="0"/>
          <a:chExt cx="0" cy="0"/>
        </a:xfrm>
      </p:grpSpPr>
      <p:sp>
        <p:nvSpPr>
          <p:cNvPr id="23" name="Google Shape;23;p4"/>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26" name="Google Shape;26;p4"/>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27" name="Google Shape;27;p4"/>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28" name="Google Shape;28;p4"/>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29704559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31" name="Google Shape;31;p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91514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2"/>
        <p:cNvGrpSpPr/>
        <p:nvPr/>
      </p:nvGrpSpPr>
      <p:grpSpPr>
        <a:xfrm>
          <a:off x="0" y="0"/>
          <a:ext cx="0" cy="0"/>
          <a:chOff x="0" y="0"/>
          <a:chExt cx="0" cy="0"/>
        </a:xfrm>
      </p:grpSpPr>
      <p:sp>
        <p:nvSpPr>
          <p:cNvPr id="33" name="Google Shape;33;p6"/>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6"/>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6"/>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6" name="Google Shape;36;p6"/>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7" name="Google Shape;37;p6"/>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8" name="Google Shape;38;p6"/>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39" name="Google Shape;39;p6"/>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3727090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7"/>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44" name="Google Shape;44;p7"/>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45" name="Google Shape;45;p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41215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48" name="Google Shape;4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649635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9"/>
        <p:cNvGrpSpPr/>
        <p:nvPr/>
      </p:nvGrpSpPr>
      <p:grpSpPr>
        <a:xfrm>
          <a:off x="0" y="0"/>
          <a:ext cx="0" cy="0"/>
          <a:chOff x="0" y="0"/>
          <a:chExt cx="0" cy="0"/>
        </a:xfrm>
      </p:grpSpPr>
      <p:sp>
        <p:nvSpPr>
          <p:cNvPr id="50" name="Google Shape;50;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9"/>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53" name="Google Shape;53;p9"/>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54" name="Google Shape;54;p9"/>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55" name="Google Shape;55;p9"/>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22834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6"/>
        <p:cNvGrpSpPr/>
        <p:nvPr/>
      </p:nvGrpSpPr>
      <p:grpSpPr>
        <a:xfrm>
          <a:off x="0" y="0"/>
          <a:ext cx="0" cy="0"/>
          <a:chOff x="0" y="0"/>
          <a:chExt cx="0" cy="0"/>
        </a:xfrm>
      </p:grpSpPr>
      <p:sp>
        <p:nvSpPr>
          <p:cNvPr id="57" name="Google Shape;57;p10"/>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0"/>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60" name="Google Shape;60;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643248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61"/>
        <p:cNvGrpSpPr/>
        <p:nvPr/>
      </p:nvGrpSpPr>
      <p:grpSpPr>
        <a:xfrm>
          <a:off x="0" y="0"/>
          <a:ext cx="0" cy="0"/>
          <a:chOff x="0" y="0"/>
          <a:chExt cx="0" cy="0"/>
        </a:xfrm>
      </p:grpSpPr>
      <p:sp>
        <p:nvSpPr>
          <p:cNvPr id="62" name="Google Shape;62;p11"/>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63" name="Google Shape;63;p11"/>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64" name="Google Shape;64;p1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552903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3.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7879677"/>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atatracker.ietf.org/group/bmwg/abou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datatracker.ietf.org/group/ippm/about/"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notes.ietf.org/notes-ietf-126-bmwg-ipp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ietf-ippm/wg-charter/blob/main/ippm-bmwg-joint.md"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datatracker.ietf.org/doc/draft-ietf-bmwg-mlrsearch/"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datatracker.ietf.org/doc/draft-ietf-bmwg-network-tester-cfg/"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datatracker.ietf.org/doc/draft-ietf-ippm-alt-mark-yang/" TargetMode="External"/><Relationship Id="rId3" Type="http://schemas.openxmlformats.org/officeDocument/2006/relationships/hyperlink" Target="https://datatracker.ietf.org/doc/draft-ietf-ippm-connectivity-monitoring/" TargetMode="External"/><Relationship Id="rId7" Type="http://schemas.openxmlformats.org/officeDocument/2006/relationships/hyperlink" Target="https://datatracker.ietf.org/doc/draft-ietf-ippm-alt-mark-deployment/"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datatracker.ietf.org/doc/draft-ietf-ippm-stamp-ext-hdr/" TargetMode="External"/><Relationship Id="rId11" Type="http://schemas.openxmlformats.org/officeDocument/2006/relationships/hyperlink" Target="https://datatracker.ietf.org/doc/draft-ietf-ippm-ioam-integrity-yang/" TargetMode="External"/><Relationship Id="rId5" Type="http://schemas.openxmlformats.org/officeDocument/2006/relationships/hyperlink" Target="https://datatracker.ietf.org/doc/draft-ietf-ippm-hybrid-two-step/" TargetMode="External"/><Relationship Id="rId10" Type="http://schemas.openxmlformats.org/officeDocument/2006/relationships/hyperlink" Target="https://datatracker.ietf.org/doc/draft-ietf-ippm-ioam-data-integrity/" TargetMode="External"/><Relationship Id="rId4" Type="http://schemas.openxmlformats.org/officeDocument/2006/relationships/hyperlink" Target="https://datatracker.ietf.org/doc/draft-ietf-ippm-qoo/" TargetMode="External"/><Relationship Id="rId9" Type="http://schemas.openxmlformats.org/officeDocument/2006/relationships/hyperlink" Target="https://datatracker.ietf.org/doc/draft-ietf-ippm-asymmetrical-pkts/"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datatracker.ietf.org/doc/bcp161/" TargetMode="External"/><Relationship Id="rId7" Type="http://schemas.openxmlformats.org/officeDocument/2006/relationships/hyperlink" Target="https://datatracker.ietf.org/doc/html/draft-ietf-ippm-asymmetrical-pkt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mailarchive.ietf.org/arch/msg/ippm/mLhjuga9b-gGYs91mSmfdqA1VP8/" TargetMode="External"/><Relationship Id="rId5" Type="http://schemas.openxmlformats.org/officeDocument/2006/relationships/hyperlink" Target="https://datatracker.ietf.org/doc/rfc10014/" TargetMode="External"/><Relationship Id="rId4" Type="http://schemas.openxmlformats.org/officeDocument/2006/relationships/hyperlink" Target="https://datatracker.ietf.org/doc/rfc6291/" TargetMode="External"/><Relationship Id="rId9" Type="http://schemas.openxmlformats.org/officeDocument/2006/relationships/hyperlink" Target="https://datatracker.ietf.org/doc/status-change-ippm-active-passive-method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atatracker.ietf.org/meeting/agenda"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www.ietf.org/how/meetings/issues/" TargetMode="External"/><Relationship Id="rId4" Type="http://schemas.openxmlformats.org/officeDocument/2006/relationships/hyperlink" Target="https://www.ietf.org/how/meetings/prepa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64" y="2104950"/>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IETF 1</a:t>
            </a:r>
            <a:r>
              <a:rPr lang="en-US" sz="3600" dirty="0"/>
              <a:t>26</a:t>
            </a:r>
            <a:r>
              <a:rPr lang="en-US" sz="3600" dirty="0">
                <a:latin typeface="Inter"/>
                <a:ea typeface="Inter"/>
                <a:cs typeface="Inter"/>
                <a:sym typeface="Inter"/>
              </a:rPr>
              <a:t> BMWG &amp; IPPM (1)</a:t>
            </a:r>
          </a:p>
        </p:txBody>
      </p:sp>
      <p:sp>
        <p:nvSpPr>
          <p:cNvPr id="100" name="Google Shape;100;p19"/>
          <p:cNvSpPr txBox="1"/>
          <p:nvPr/>
        </p:nvSpPr>
        <p:spPr>
          <a:xfrm>
            <a:off x="754475" y="1465800"/>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22 July 2026</a:t>
            </a:r>
            <a:endParaRPr lang="en-US"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Inter"/>
                <a:ea typeface="Inter"/>
                <a:cs typeface="Inter"/>
                <a:sym typeface="Inter"/>
              </a:rPr>
              <a:t>Internet Engineering Task Force</a:t>
            </a:r>
          </a:p>
          <a:p>
            <a:pPr marL="0" lvl="0" indent="0" algn="l" rtl="0">
              <a:spcBef>
                <a:spcPts val="0"/>
              </a:spcBef>
              <a:spcAft>
                <a:spcPts val="0"/>
              </a:spcAft>
              <a:buNone/>
            </a:pPr>
            <a:r>
              <a:rPr lang="en-US" sz="1200" dirty="0">
                <a:latin typeface="Inter"/>
                <a:ea typeface="Inter"/>
                <a:cs typeface="Inter"/>
                <a:sym typeface="Inter"/>
              </a:rPr>
              <a:t>© 2026 IETF Trust </a:t>
            </a:r>
          </a:p>
          <a:p>
            <a:pPr marL="0" lvl="0" indent="0" algn="l" rtl="0">
              <a:spcBef>
                <a:spcPts val="0"/>
              </a:spcBef>
              <a:spcAft>
                <a:spcPts val="0"/>
              </a:spcAft>
              <a:buNone/>
            </a:pPr>
            <a:r>
              <a:rPr lang="en-US" sz="1200" dirty="0">
                <a:latin typeface="Inter"/>
                <a:ea typeface="Inter"/>
                <a:cs typeface="Inter"/>
                <a:sym typeface="Inter"/>
              </a:rPr>
              <a:t>Production by </a:t>
            </a:r>
            <a:r>
              <a:rPr lang="en-US" sz="1200" dirty="0" err="1">
                <a:latin typeface="Inter"/>
                <a:ea typeface="Inter"/>
                <a:cs typeface="Inter"/>
                <a:sym typeface="Inter"/>
              </a:rPr>
              <a:t>Meetecho</a:t>
            </a:r>
            <a:endParaRPr lang="en-US" sz="1200" dirty="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This session is being recorded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By participating in the IETF you agree to follow IETF processes and policies. This Note Well is a reminder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some of those policies. For a linked version of this text, please visit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www.ietf.org</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/note-well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or use the QR code below.</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IETF participants are expected to behave in a professional manner and extend respect and courtesy to their colleagues at all times (see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7154: IETF Guidelines for Conduct and IETF Anti-Harassment Policy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If you have any concerns about behavior, please contact the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Ombudsteam</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who have a duty of confidentiality and extensive powers to act, as set out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7776: IETF Anti-Harassment Procedures</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If you are aware that any IETF contribution (as defined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5378: Rights Contributors Provide to the IETF Trust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is covered by patents or patent applications that are owned or controlled by you, your employer or your sponsor, you must disclose that fact, or not participate in the discussion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8179: Intellectual Property Rights in IETF Technology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detailed process information consult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2026: Internet Standards Process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2418: IETF Working Group Guidelines and Procedures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updates to those.</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The IETF routinely makes public written, audio, video, and photographic records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IETF activities, including your personal information as set out in the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IETF Privacy Statement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0" marR="0" lvl="0" indent="0" algn="l" defTabSz="914400" rtl="0" eaLnBrk="1" fontAlgn="auto" latinLnBrk="0" hangingPunct="1">
              <a:lnSpc>
                <a:spcPct val="115000"/>
              </a:lnSpc>
              <a:spcBef>
                <a:spcPts val="1000"/>
              </a:spcBef>
              <a:spcAft>
                <a:spcPts val="100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advice, please talk to Working Group chairs or Area Directors.</a:t>
            </a:r>
            <a:endParaRPr kumimoji="0" sz="1200" b="0" i="0" u="none" strike="noStrike" kern="0" cap="none" spc="0" normalizeH="0" baseline="0" noProof="0" dirty="0">
              <a:ln>
                <a:noFill/>
              </a:ln>
              <a:solidFill>
                <a:srgbClr val="434343"/>
              </a:solidFill>
              <a:effectLst/>
              <a:uLnTx/>
              <a:uFillTx/>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Note Really Well</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meetings, virtual meetings, and mailing lists are intended for professional collaboration and networking, as defined in the IETF Guidelines for Conduct (RFC 7154), the IETF Anti-Harassment Policy, and the IETF Anti-Harassment Procedures (RFC 7776). If you have any concerns about observed behavior, please talk to the </a:t>
            </a:r>
            <a:r>
              <a:rPr lang="en-US" sz="1300" dirty="0" err="1">
                <a:solidFill>
                  <a:srgbClr val="434343"/>
                </a:solidFill>
                <a:latin typeface="Inter"/>
                <a:ea typeface="Inter"/>
                <a:cs typeface="Inter"/>
                <a:sym typeface="Inter"/>
              </a:rPr>
              <a:t>Ombudsteam</a:t>
            </a:r>
            <a:r>
              <a:rPr lang="en-US" sz="1300" dirty="0">
                <a:solidFill>
                  <a:srgbClr val="434343"/>
                </a:solidFill>
                <a:latin typeface="Inter"/>
                <a:ea typeface="Inter"/>
                <a:cs typeface="Inter"/>
                <a:sym typeface="Inter"/>
              </a:rPr>
              <a:t>, who are available if you need confidentiality to raise concerns confident about harassment or other conduct in the IETF.</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IETF strives to create and maintain an environment in which people of many different backgrounds and identities are treated with dignity, decency, and respect. Those who participate in the IETF are expected to behave according to professional standards and demonstrate appropriate workplace behavior.</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participants must not engage in harassment while at IETF meetings, virtual meetings, social events, or on mailing lists. Harassment is unwelcome hostile or intimidating behavior—in particular, speech or behavior that is aggressive or intimidates.</a:t>
            </a:r>
          </a:p>
          <a:p>
            <a:pPr marL="457200" marR="0" lvl="0" indent="-311150" algn="l" rtl="0">
              <a:lnSpc>
                <a:spcPct val="115000"/>
              </a:lnSpc>
              <a:spcBef>
                <a:spcPts val="1000"/>
              </a:spcBef>
              <a:spcAft>
                <a:spcPts val="1000"/>
              </a:spcAft>
              <a:buClr>
                <a:srgbClr val="434343"/>
              </a:buClr>
              <a:buSzPts val="1300"/>
              <a:buFont typeface="Inter"/>
              <a:buChar char="●"/>
            </a:pPr>
            <a:r>
              <a:rPr lang="en-US" sz="1300" dirty="0">
                <a:solidFill>
                  <a:srgbClr val="434343"/>
                </a:solidFill>
                <a:latin typeface="Inter"/>
                <a:ea typeface="Inter"/>
                <a:cs typeface="Inter"/>
                <a:sym typeface="Inter"/>
              </a:rPr>
              <a:t>If you believe you have been harassed, notice that someone else is being harassed,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or have any other concerns, you are encouraged to raise your concern in confidence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with one of the Ombudspersons.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IETF 126 Meeting Tips</a:t>
            </a:r>
            <a:endParaRPr lang="en-US" sz="2400" dirty="0">
              <a:solidFill>
                <a:srgbClr val="FFFFFF"/>
              </a:solidFill>
            </a:endParaRPr>
          </a:p>
        </p:txBody>
      </p:sp>
      <p:sp>
        <p:nvSpPr>
          <p:cNvPr id="120" name="Google Shape;120;p22"/>
          <p:cNvSpPr txBox="1">
            <a:spLocks noGrp="1"/>
          </p:cNvSpPr>
          <p:nvPr>
            <p:ph type="body" idx="1"/>
          </p:nvPr>
        </p:nvSpPr>
        <p:spPr>
          <a:xfrm>
            <a:off x="331800" y="1896950"/>
            <a:ext cx="8480400" cy="2727300"/>
          </a:xfrm>
          <a:prstGeom prst="rect">
            <a:avLst/>
          </a:prstGeom>
          <a:noFill/>
          <a:ln>
            <a:noFill/>
          </a:ln>
        </p:spPr>
        <p:txBody>
          <a:bodyPr spcFirstLastPara="1" wrap="square" lIns="91400" tIns="91400" rIns="91400" bIns="91400" anchor="t" anchorCtr="0">
            <a:noAutofit/>
          </a:bodyPr>
          <a:lstStyle/>
          <a:p>
            <a:pPr marL="0" lvl="0" indent="0" algn="l" rtl="0">
              <a:lnSpc>
                <a:spcPct val="110000"/>
              </a:lnSpc>
              <a:spcBef>
                <a:spcPts val="300"/>
              </a:spcBef>
              <a:spcAft>
                <a:spcPts val="0"/>
              </a:spcAft>
              <a:buNone/>
            </a:pPr>
            <a:r>
              <a:rPr lang="en-US" sz="1600" b="1" dirty="0">
                <a:solidFill>
                  <a:srgbClr val="000000"/>
                </a:solidFill>
              </a:rPr>
              <a:t>In-person participants</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to sign into the session via </a:t>
            </a:r>
            <a:r>
              <a:rPr lang="en-US" sz="1600" dirty="0" err="1">
                <a:solidFill>
                  <a:srgbClr val="000000"/>
                </a:solidFill>
              </a:rPr>
              <a:t>Datatracker</a:t>
            </a:r>
            <a:r>
              <a:rPr lang="en-US" sz="1600" dirty="0">
                <a:solidFill>
                  <a:srgbClr val="000000"/>
                </a:solidFill>
              </a:rPr>
              <a:t> or the QR Code in this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a:t>
            </a:r>
            <a:r>
              <a:rPr lang="en-US" sz="1600" dirty="0" err="1">
                <a:solidFill>
                  <a:srgbClr val="000000"/>
                </a:solidFill>
              </a:rPr>
              <a:t>Meetecho</a:t>
            </a:r>
            <a:r>
              <a:rPr lang="en-US" sz="1600" dirty="0">
                <a:solidFill>
                  <a:srgbClr val="000000"/>
                </a:solidFill>
              </a:rPr>
              <a:t> (usually the “</a:t>
            </a:r>
            <a:r>
              <a:rPr lang="en-US" sz="1600" dirty="0" err="1">
                <a:solidFill>
                  <a:srgbClr val="000000"/>
                </a:solidFill>
              </a:rPr>
              <a:t>Meetecho</a:t>
            </a:r>
            <a:r>
              <a:rPr lang="en-US" sz="1600" dirty="0">
                <a:solidFill>
                  <a:srgbClr val="000000"/>
                </a:solidFill>
              </a:rPr>
              <a:t> lite”) client to:</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join the mic queue</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participate in shows of hands</a:t>
            </a:r>
          </a:p>
          <a:p>
            <a:pPr marL="457200" lvl="0" indent="-330200" algn="l" rtl="0">
              <a:lnSpc>
                <a:spcPct val="110000"/>
              </a:lnSpc>
              <a:spcBef>
                <a:spcPts val="0"/>
              </a:spcBef>
              <a:spcAft>
                <a:spcPts val="0"/>
              </a:spcAft>
              <a:buClr>
                <a:srgbClr val="000000"/>
              </a:buClr>
              <a:buSzPts val="1600"/>
              <a:buChar char="●"/>
            </a:pPr>
            <a:r>
              <a:rPr lang="en-US" sz="1600" i="1" dirty="0">
                <a:solidFill>
                  <a:srgbClr val="000000"/>
                </a:solidFill>
              </a:rPr>
              <a:t>Keep audio and video off if not using the onsite version.</a:t>
            </a:r>
            <a:endParaRPr lang="en-US" sz="1600" b="1" dirty="0">
              <a:solidFill>
                <a:srgbClr val="000000"/>
              </a:solidFill>
            </a:endParaRPr>
          </a:p>
          <a:p>
            <a:pPr marL="0" lvl="0" indent="0" algn="l" rtl="0">
              <a:lnSpc>
                <a:spcPct val="110000"/>
              </a:lnSpc>
              <a:spcBef>
                <a:spcPts val="300"/>
              </a:spcBef>
              <a:spcAft>
                <a:spcPts val="0"/>
              </a:spcAft>
              <a:buNone/>
            </a:pPr>
            <a:r>
              <a:rPr lang="en-US" sz="1600" b="1" dirty="0">
                <a:solidFill>
                  <a:srgbClr val="000000"/>
                </a:solidFill>
              </a:rPr>
              <a:t>Remote participants </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your audio and video are off unless you are chairing or presenting during a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of a headset is strongly recommended.</a:t>
            </a:r>
          </a:p>
        </p:txBody>
      </p:sp>
      <p:sp>
        <p:nvSpPr>
          <p:cNvPr id="121" name="Google Shape;121;p22"/>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4</a:t>
            </a:fld>
            <a:endParaRPr lang="en-US" dirty="0"/>
          </a:p>
        </p:txBody>
      </p:sp>
      <p:sp>
        <p:nvSpPr>
          <p:cNvPr id="122" name="Google Shape;122;p22"/>
          <p:cNvSpPr txBox="1"/>
          <p:nvPr/>
        </p:nvSpPr>
        <p:spPr>
          <a:xfrm>
            <a:off x="1709550" y="218225"/>
            <a:ext cx="5724900" cy="667800"/>
          </a:xfrm>
          <a:prstGeom prst="rect">
            <a:avLst/>
          </a:prstGeom>
          <a:noFill/>
          <a:ln>
            <a:noFill/>
          </a:ln>
        </p:spPr>
        <p:txBody>
          <a:bodyPr spcFirstLastPara="1" wrap="square" lIns="91425" tIns="91425" rIns="91425" bIns="91425" anchor="t" anchorCtr="0">
            <a:noAutofit/>
          </a:bodyPr>
          <a:lstStyle/>
          <a:p>
            <a:pPr marL="0" lvl="0" indent="0" algn="ctr" rtl="0">
              <a:lnSpc>
                <a:spcPct val="110000"/>
              </a:lnSpc>
              <a:spcBef>
                <a:spcPts val="300"/>
              </a:spcBef>
              <a:spcAft>
                <a:spcPts val="0"/>
              </a:spcAft>
              <a:buNone/>
            </a:pPr>
            <a:r>
              <a:rPr lang="en-US" sz="2400" dirty="0">
                <a:solidFill>
                  <a:srgbClr val="FFE599"/>
                </a:solidFill>
                <a:latin typeface="Montserrat"/>
                <a:ea typeface="Montserrat"/>
                <a:cs typeface="Montserrat"/>
                <a:sym typeface="Montserrat"/>
              </a:rPr>
              <a:t>This session is being recorded</a:t>
            </a:r>
          </a:p>
        </p:txBody>
      </p:sp>
      <p:pic>
        <p:nvPicPr>
          <p:cNvPr id="123" name="Google Shape;123;p22"/>
          <p:cNvPicPr preferRelativeResize="0"/>
          <p:nvPr/>
        </p:nvPicPr>
        <p:blipFill>
          <a:blip r:embed="rId3">
            <a:alphaModFix/>
          </a:blip>
          <a:stretch>
            <a:fillRect/>
          </a:stretch>
        </p:blipFill>
        <p:spPr>
          <a:xfrm>
            <a:off x="6916950" y="2699300"/>
            <a:ext cx="1818475" cy="810300"/>
          </a:xfrm>
          <a:prstGeom prst="rect">
            <a:avLst/>
          </a:prstGeom>
          <a:noFill/>
          <a:ln>
            <a:noFill/>
          </a:ln>
          <a:effectLst>
            <a:outerShdw blurRad="114300" dist="19050" dir="3000000" algn="bl" rotWithShape="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BMWG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146050" marR="0" lvl="0" indent="0" algn="l" rtl="0">
              <a:lnSpc>
                <a:spcPct val="115000"/>
              </a:lnSpc>
              <a:spcBef>
                <a:spcPts val="600"/>
              </a:spcBef>
              <a:spcAft>
                <a:spcPts val="0"/>
              </a:spcAft>
              <a:buClr>
                <a:srgbClr val="434343"/>
              </a:buClr>
              <a:buSzPts val="1300"/>
              <a:buNone/>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Benchmarking Methodology Working Group (BMWG) will continue to produce a series of recommendations concerning the </a:t>
            </a:r>
            <a:r>
              <a:rPr lang="en-US" sz="1300" b="1" dirty="0">
                <a:solidFill>
                  <a:srgbClr val="434343"/>
                </a:solidFill>
                <a:latin typeface="Inter"/>
                <a:ea typeface="Inter"/>
                <a:cs typeface="Inter"/>
                <a:sym typeface="Inter"/>
              </a:rPr>
              <a:t>key performance characteristics of internetworking technologies, or benchmarks for network devices, systems, and services. </a:t>
            </a:r>
            <a:r>
              <a:rPr lang="en-US" sz="1300" dirty="0">
                <a:solidFill>
                  <a:srgbClr val="434343"/>
                </a:solidFill>
                <a:latin typeface="Inter"/>
                <a:ea typeface="Inter"/>
                <a:cs typeface="Inter"/>
                <a:sym typeface="Inter"/>
              </a:rPr>
              <a:t>Taking a view of networking divided into planes, the scope of work includes benchmarks for the management, control, and forwarding planes.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set of relevant benchmarks will be developed with input from the community of users (network operators and testing organizations) and from those affected by the benchmarks when they are published (networking and test equipment manufacturers).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scope of the BMWG is limited to the characterization of implementations of various internetworking technologies using controlled stimuli in a laboratory environment. Said differently, the BMWG does not attempt to produce benchmarks for live, operational networks.</a:t>
            </a:r>
          </a:p>
          <a:p>
            <a:pPr marL="146050" marR="0" lvl="0" indent="0" algn="l" rtl="0">
              <a:lnSpc>
                <a:spcPct val="115000"/>
              </a:lnSpc>
              <a:spcBef>
                <a:spcPts val="600"/>
              </a:spcBef>
              <a:spcAft>
                <a:spcPts val="0"/>
              </a:spcAft>
              <a:buClr>
                <a:srgbClr val="434343"/>
              </a:buClr>
              <a:buSzPts val="1300"/>
              <a:buNone/>
            </a:pPr>
            <a:endParaRPr lang="en-US" sz="1300" b="1" dirty="0">
              <a:solidFill>
                <a:srgbClr val="434343"/>
              </a:solidFill>
              <a:latin typeface="Inter"/>
              <a:ea typeface="Inter"/>
              <a:cs typeface="Inter"/>
              <a:sym typeface="Inter"/>
            </a:endParaRPr>
          </a:p>
          <a:p>
            <a:pPr marL="146050" marR="0" lvl="0" indent="0" algn="l" rtl="0">
              <a:lnSpc>
                <a:spcPct val="115000"/>
              </a:lnSpc>
              <a:spcBef>
                <a:spcPts val="600"/>
              </a:spcBef>
              <a:spcAft>
                <a:spcPts val="0"/>
              </a:spcAft>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https://datatracker.ietf.org/group/bmwg/about/</a:t>
            </a: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65984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IPPM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 Performance Measurement (IPPM) Working Group </a:t>
            </a:r>
            <a:r>
              <a:rPr lang="en-US" sz="1300" b="1" dirty="0">
                <a:solidFill>
                  <a:srgbClr val="434343"/>
                </a:solidFill>
                <a:latin typeface="Inter"/>
                <a:ea typeface="Inter"/>
                <a:cs typeface="Inter"/>
                <a:sym typeface="Inter"/>
              </a:rPr>
              <a:t>develops and maintains standard metrics that can be applied to the quality, performance, and reliability of Internet data delivery services and applications running over transport layer protocols (e.g. TCP, UDP) over IP. </a:t>
            </a:r>
            <a:r>
              <a:rPr lang="en-US" sz="1300" dirty="0">
                <a:solidFill>
                  <a:srgbClr val="434343"/>
                </a:solidFill>
                <a:latin typeface="Inter"/>
                <a:ea typeface="Inter"/>
                <a:cs typeface="Inter"/>
                <a:sym typeface="Inter"/>
              </a:rPr>
              <a:t>It also develops and maintains methodologies and protocols for the measurement of these metrics. These metrics, protocols, and methodologies are designed such that they can be used by network operators, end users, or independent testing groups. Metrics developed by the IPPM WG are intended to provide unbiased quantitative performance measurements.</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IPPM WG works to foster commonality and comparability of metrics and measurements across IETF protocols at different layers. Its work is limited to metrics and methodologies which are applicable over transport-layer protocols over IP, and does not specify encapsulations required for measurements over non-IP layers.</a:t>
            </a: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https://datatracker.ietf.org/group/ippm/about/</a:t>
            </a:r>
            <a:br>
              <a:rPr lang="en-US" sz="1300" dirty="0">
                <a:solidFill>
                  <a:srgbClr val="434343"/>
                </a:solidFill>
                <a:latin typeface="Inter"/>
                <a:ea typeface="Inter"/>
                <a:cs typeface="Inter"/>
                <a:sym typeface="Inter"/>
              </a:rPr>
            </a:b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38331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Notetaker</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dirty="0"/>
              <a:t>We need a volunteer for notetaking.</a:t>
            </a:r>
          </a:p>
          <a:p>
            <a:r>
              <a:rPr lang="en-US" dirty="0">
                <a:hlinkClick r:id="rId3"/>
              </a:rPr>
              <a:t>https://notes.ietf.org/notes-ietf-126-bmwg-ippm </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Tree>
    <p:extLst>
      <p:ext uri="{BB962C8B-B14F-4D97-AF65-F5344CB8AC3E}">
        <p14:creationId xmlns:p14="http://schemas.microsoft.com/office/powerpoint/2010/main" val="3471097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Working Group Documents</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pic>
        <p:nvPicPr>
          <p:cNvPr id="5" name="Picture 4">
            <a:extLst>
              <a:ext uri="{FF2B5EF4-FFF2-40B4-BE49-F238E27FC236}">
                <a16:creationId xmlns:a16="http://schemas.microsoft.com/office/drawing/2014/main" id="{1651A5FE-BC22-A772-4A2B-C1C3EDC951C6}"/>
              </a:ext>
            </a:extLst>
          </p:cNvPr>
          <p:cNvPicPr>
            <a:picLocks noChangeAspect="1"/>
          </p:cNvPicPr>
          <p:nvPr/>
        </p:nvPicPr>
        <p:blipFill>
          <a:blip r:embed="rId2"/>
          <a:stretch>
            <a:fillRect/>
          </a:stretch>
        </p:blipFill>
        <p:spPr>
          <a:xfrm>
            <a:off x="471900" y="2064684"/>
            <a:ext cx="7744906" cy="2314898"/>
          </a:xfrm>
          <a:prstGeom prst="rect">
            <a:avLst/>
          </a:prstGeom>
        </p:spPr>
      </p:pic>
    </p:spTree>
    <p:extLst>
      <p:ext uri="{BB962C8B-B14F-4D97-AF65-F5344CB8AC3E}">
        <p14:creationId xmlns:p14="http://schemas.microsoft.com/office/powerpoint/2010/main" val="233274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Proposed Work</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9</a:t>
            </a:fld>
            <a:endParaRPr lang="en-US" dirty="0"/>
          </a:p>
        </p:txBody>
      </p:sp>
      <p:pic>
        <p:nvPicPr>
          <p:cNvPr id="8" name="Picture 7">
            <a:extLst>
              <a:ext uri="{FF2B5EF4-FFF2-40B4-BE49-F238E27FC236}">
                <a16:creationId xmlns:a16="http://schemas.microsoft.com/office/drawing/2014/main" id="{DDD54163-A364-7404-5FA2-B9996C09DC5C}"/>
              </a:ext>
            </a:extLst>
          </p:cNvPr>
          <p:cNvPicPr>
            <a:picLocks noChangeAspect="1"/>
          </p:cNvPicPr>
          <p:nvPr/>
        </p:nvPicPr>
        <p:blipFill>
          <a:blip r:embed="rId3"/>
          <a:stretch>
            <a:fillRect/>
          </a:stretch>
        </p:blipFill>
        <p:spPr>
          <a:xfrm>
            <a:off x="471900" y="1986288"/>
            <a:ext cx="6592103" cy="2738510"/>
          </a:xfrm>
          <a:prstGeom prst="rect">
            <a:avLst/>
          </a:prstGeom>
        </p:spPr>
      </p:pic>
    </p:spTree>
    <p:extLst>
      <p:ext uri="{BB962C8B-B14F-4D97-AF65-F5344CB8AC3E}">
        <p14:creationId xmlns:p14="http://schemas.microsoft.com/office/powerpoint/2010/main" val="703495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de-CH" dirty="0"/>
              <a:t>Joint Charter Discussion</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40000" y="4724798"/>
            <a:ext cx="432241" cy="335251"/>
          </a:xfrm>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9" name="TextBox 8">
            <a:extLst>
              <a:ext uri="{FF2B5EF4-FFF2-40B4-BE49-F238E27FC236}">
                <a16:creationId xmlns:a16="http://schemas.microsoft.com/office/drawing/2014/main" id="{7D37B510-93C9-AA3C-B299-9519676CBF6E}"/>
              </a:ext>
            </a:extLst>
          </p:cNvPr>
          <p:cNvSpPr txBox="1"/>
          <p:nvPr/>
        </p:nvSpPr>
        <p:spPr>
          <a:xfrm>
            <a:off x="573110" y="3612267"/>
            <a:ext cx="7477190" cy="738664"/>
          </a:xfrm>
          <a:prstGeom prst="rect">
            <a:avLst/>
          </a:prstGeom>
          <a:noFill/>
        </p:spPr>
        <p:txBody>
          <a:bodyPr wrap="square">
            <a:spAutoFit/>
          </a:bodyPr>
          <a:lstStyle/>
          <a:p>
            <a:r>
              <a:rPr lang="en-US" sz="1400" dirty="0"/>
              <a:t>We reserved 20min time at the end of this session where we discuss with Qin Wu together your feedback and comments on the proposed joint charter </a:t>
            </a:r>
            <a:r>
              <a:rPr lang="en-US" sz="1400" dirty="0">
                <a:hlinkClick r:id="rId3"/>
              </a:rPr>
              <a:t>https://github.com/ietf-ippm/wg-charter/blob/main/ippm-bmwg-joint.md</a:t>
            </a:r>
            <a:r>
              <a:rPr lang="en-US" sz="1400" dirty="0"/>
              <a:t> and deciding the name of the joint working group.</a:t>
            </a:r>
          </a:p>
        </p:txBody>
      </p:sp>
      <p:pic>
        <p:nvPicPr>
          <p:cNvPr id="5" name="Picture 4">
            <a:extLst>
              <a:ext uri="{FF2B5EF4-FFF2-40B4-BE49-F238E27FC236}">
                <a16:creationId xmlns:a16="http://schemas.microsoft.com/office/drawing/2014/main" id="{AEB91EE9-B558-492B-0B4C-5692B5522C42}"/>
              </a:ext>
            </a:extLst>
          </p:cNvPr>
          <p:cNvPicPr>
            <a:picLocks noChangeAspect="1"/>
          </p:cNvPicPr>
          <p:nvPr/>
        </p:nvPicPr>
        <p:blipFill>
          <a:blip r:embed="rId4"/>
          <a:stretch>
            <a:fillRect/>
          </a:stretch>
        </p:blipFill>
        <p:spPr>
          <a:xfrm>
            <a:off x="573110" y="2134400"/>
            <a:ext cx="7611537" cy="981212"/>
          </a:xfrm>
          <a:prstGeom prst="rect">
            <a:avLst/>
          </a:prstGeom>
        </p:spPr>
      </p:pic>
    </p:spTree>
    <p:extLst>
      <p:ext uri="{BB962C8B-B14F-4D97-AF65-F5344CB8AC3E}">
        <p14:creationId xmlns:p14="http://schemas.microsoft.com/office/powerpoint/2010/main" val="1859012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a:xfrm>
            <a:off x="471899" y="218223"/>
            <a:ext cx="8395009" cy="1288203"/>
          </a:xfrm>
        </p:spPr>
        <p:txBody>
          <a:bodyPr anchor="ctr"/>
          <a:lstStyle/>
          <a:p>
            <a:r>
              <a:rPr lang="en-US" sz="3200" dirty="0"/>
              <a:t>BMWG Document Updates Since IETF 125</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11</a:t>
            </a:fld>
            <a:endParaRPr lang="en-US" dirty="0"/>
          </a:p>
        </p:txBody>
      </p:sp>
      <p:sp>
        <p:nvSpPr>
          <p:cNvPr id="3" name="Text Placeholder 2">
            <a:extLst>
              <a:ext uri="{FF2B5EF4-FFF2-40B4-BE49-F238E27FC236}">
                <a16:creationId xmlns:a16="http://schemas.microsoft.com/office/drawing/2014/main" id="{FED4E835-D652-159B-D0CD-7FC58A509645}"/>
              </a:ext>
            </a:extLst>
          </p:cNvPr>
          <p:cNvSpPr>
            <a:spLocks noGrp="1"/>
          </p:cNvSpPr>
          <p:nvPr>
            <p:ph type="body" idx="1"/>
          </p:nvPr>
        </p:nvSpPr>
        <p:spPr>
          <a:xfrm>
            <a:off x="471900" y="1919074"/>
            <a:ext cx="8395008" cy="2710201"/>
          </a:xfrm>
        </p:spPr>
        <p:txBody>
          <a:bodyPr/>
          <a:lstStyle/>
          <a:p>
            <a:pPr>
              <a:spcBef>
                <a:spcPts val="1200"/>
              </a:spcBef>
            </a:pPr>
            <a:r>
              <a:rPr lang="de-CH" sz="1400" b="1" dirty="0">
                <a:hlinkClick r:id="rId3"/>
              </a:rPr>
              <a:t>draft-</a:t>
            </a:r>
            <a:r>
              <a:rPr lang="de-CH" sz="1400" b="1" dirty="0" err="1">
                <a:hlinkClick r:id="rId3"/>
              </a:rPr>
              <a:t>ietf</a:t>
            </a:r>
            <a:r>
              <a:rPr lang="de-CH" sz="1400" b="1" dirty="0">
                <a:hlinkClick r:id="rId3"/>
              </a:rPr>
              <a:t>-bmwg-</a:t>
            </a:r>
            <a:r>
              <a:rPr lang="de-CH" sz="1400" b="1" dirty="0" err="1">
                <a:hlinkClick r:id="rId3"/>
              </a:rPr>
              <a:t>sr</a:t>
            </a:r>
            <a:r>
              <a:rPr lang="de-CH" sz="1400" b="1" dirty="0">
                <a:hlinkClick r:id="rId3"/>
              </a:rPr>
              <a:t>-</a:t>
            </a:r>
            <a:r>
              <a:rPr lang="de-CH" sz="1400" b="1" dirty="0" err="1">
                <a:hlinkClick r:id="rId3"/>
              </a:rPr>
              <a:t>bench-meth</a:t>
            </a:r>
            <a:r>
              <a:rPr lang="de-CH" sz="1400" b="1" dirty="0">
                <a:hlinkClick r:id="rId3"/>
              </a:rPr>
              <a:t> </a:t>
            </a:r>
            <a:r>
              <a:rPr lang="en-US" sz="1400" dirty="0"/>
              <a:t>Submitted to IESG for Publication. Received AD review. Awaiting reviews from RTGDIR and PERFMETRDIR.</a:t>
            </a:r>
          </a:p>
          <a:p>
            <a:pPr>
              <a:spcBef>
                <a:spcPts val="1200"/>
              </a:spcBef>
            </a:pPr>
            <a:r>
              <a:rPr lang="de-CH" sz="1400" b="1" dirty="0">
                <a:hlinkClick r:id="rId4"/>
              </a:rPr>
              <a:t>draft-</a:t>
            </a:r>
            <a:r>
              <a:rPr lang="de-CH" sz="1400" b="1" dirty="0" err="1">
                <a:hlinkClick r:id="rId4"/>
              </a:rPr>
              <a:t>ietf</a:t>
            </a:r>
            <a:r>
              <a:rPr lang="de-CH" sz="1400" b="1" dirty="0">
                <a:hlinkClick r:id="rId4"/>
              </a:rPr>
              <a:t>-bmwg-network-tester-</a:t>
            </a:r>
            <a:r>
              <a:rPr lang="de-CH" sz="1400" b="1" dirty="0" err="1">
                <a:hlinkClick r:id="rId4"/>
              </a:rPr>
              <a:t>cfg</a:t>
            </a:r>
            <a:r>
              <a:rPr lang="de-CH" sz="1400" dirty="0"/>
              <a:t> RFC Ed Queue</a:t>
            </a:r>
          </a:p>
          <a:p>
            <a:pPr>
              <a:spcBef>
                <a:spcPts val="1200"/>
              </a:spcBef>
            </a:pPr>
            <a:r>
              <a:rPr lang="de-CH" sz="1400" b="1" dirty="0">
                <a:hlinkClick r:id="rId3"/>
              </a:rPr>
              <a:t>draft-</a:t>
            </a:r>
            <a:r>
              <a:rPr lang="de-CH" sz="1400" b="1" dirty="0" err="1">
                <a:hlinkClick r:id="rId3"/>
              </a:rPr>
              <a:t>ietf</a:t>
            </a:r>
            <a:r>
              <a:rPr lang="de-CH" sz="1400" b="1" dirty="0">
                <a:hlinkClick r:id="rId3"/>
              </a:rPr>
              <a:t>-bmwg-</a:t>
            </a:r>
            <a:r>
              <a:rPr lang="de-CH" sz="1400" b="1" dirty="0" err="1">
                <a:hlinkClick r:id="rId3"/>
              </a:rPr>
              <a:t>mlrsearch</a:t>
            </a:r>
            <a:r>
              <a:rPr lang="de-CH" sz="1400" b="1" dirty="0"/>
              <a:t> </a:t>
            </a:r>
            <a:r>
              <a:rPr lang="en-US" sz="1400" dirty="0"/>
              <a:t>in RFC Ed Queue</a:t>
            </a:r>
            <a:endParaRPr lang="de-CH" sz="1400" dirty="0"/>
          </a:p>
        </p:txBody>
      </p:sp>
    </p:spTree>
    <p:extLst>
      <p:ext uri="{BB962C8B-B14F-4D97-AF65-F5344CB8AC3E}">
        <p14:creationId xmlns:p14="http://schemas.microsoft.com/office/powerpoint/2010/main" val="137274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sz="3200" noProof="0" dirty="0"/>
              <a:t>IPPM Document Updates Since IETF 125</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noProof="0" smtClean="0"/>
              <a:t>12</a:t>
            </a:fld>
            <a:endParaRPr lang="en-US" noProof="0" dirty="0"/>
          </a:p>
        </p:txBody>
      </p:sp>
      <p:sp>
        <p:nvSpPr>
          <p:cNvPr id="3" name="Text Placeholder 2">
            <a:extLst>
              <a:ext uri="{FF2B5EF4-FFF2-40B4-BE49-F238E27FC236}">
                <a16:creationId xmlns:a16="http://schemas.microsoft.com/office/drawing/2014/main" id="{FED4E835-D652-159B-D0CD-7FC58A509645}"/>
              </a:ext>
            </a:extLst>
          </p:cNvPr>
          <p:cNvSpPr>
            <a:spLocks noGrp="1"/>
          </p:cNvSpPr>
          <p:nvPr>
            <p:ph type="body" idx="1"/>
          </p:nvPr>
        </p:nvSpPr>
        <p:spPr>
          <a:xfrm>
            <a:off x="377275" y="1880414"/>
            <a:ext cx="8505845" cy="2658807"/>
          </a:xfrm>
        </p:spPr>
        <p:txBody>
          <a:bodyPr/>
          <a:lstStyle/>
          <a:p>
            <a:pPr>
              <a:spcBef>
                <a:spcPts val="600"/>
              </a:spcBef>
            </a:pPr>
            <a:r>
              <a:rPr lang="en-US" sz="1400" noProof="0" dirty="0">
                <a:hlinkClick r:id="rId3"/>
              </a:rPr>
              <a:t>draft-ietf-ippm-connectivity-monitoring-13</a:t>
            </a:r>
            <a:r>
              <a:rPr lang="en-US" sz="1400" noProof="0" dirty="0"/>
              <a:t>, parked document (</a:t>
            </a:r>
            <a:r>
              <a:rPr lang="en-US" sz="1400" b="1" noProof="0" dirty="0"/>
              <a:t>on agenda today</a:t>
            </a:r>
            <a:r>
              <a:rPr lang="en-US" sz="1400" noProof="0" dirty="0"/>
              <a:t>)</a:t>
            </a:r>
          </a:p>
          <a:p>
            <a:pPr>
              <a:spcBef>
                <a:spcPts val="600"/>
              </a:spcBef>
            </a:pPr>
            <a:r>
              <a:rPr lang="en-US" sz="1400" noProof="0" dirty="0">
                <a:hlinkClick r:id="rId4"/>
              </a:rPr>
              <a:t>draft-ietf-ippm-qoo-11</a:t>
            </a:r>
            <a:r>
              <a:rPr lang="en-US" sz="1400" noProof="0" dirty="0"/>
              <a:t>, RFC Ed Queue, </a:t>
            </a:r>
            <a:r>
              <a:rPr lang="en-US" sz="1400" dirty="0"/>
              <a:t>(</a:t>
            </a:r>
            <a:r>
              <a:rPr lang="en-US" sz="1400" b="1" dirty="0"/>
              <a:t>on agenda today</a:t>
            </a:r>
            <a:r>
              <a:rPr lang="en-US" sz="1400" dirty="0"/>
              <a:t>)</a:t>
            </a:r>
            <a:endParaRPr lang="en-US" sz="1400" noProof="0" dirty="0"/>
          </a:p>
          <a:p>
            <a:pPr>
              <a:spcBef>
                <a:spcPts val="600"/>
              </a:spcBef>
            </a:pPr>
            <a:r>
              <a:rPr lang="en-US" sz="1400" noProof="0" dirty="0">
                <a:hlinkClick r:id="rId5"/>
              </a:rPr>
              <a:t>draft-ietf-ippm-hybrid-two-step-06</a:t>
            </a:r>
            <a:r>
              <a:rPr lang="en-US" sz="1400" noProof="0" dirty="0"/>
              <a:t>, AD review </a:t>
            </a:r>
            <a:r>
              <a:rPr lang="en-US" sz="1400"/>
              <a:t>received</a:t>
            </a:r>
            <a:endParaRPr lang="en-US" sz="1400" b="1" dirty="0"/>
          </a:p>
          <a:p>
            <a:pPr>
              <a:spcBef>
                <a:spcPts val="600"/>
              </a:spcBef>
            </a:pPr>
            <a:r>
              <a:rPr lang="en-US" sz="1400" dirty="0">
                <a:hlinkClick r:id="rId6"/>
              </a:rPr>
              <a:t>draft-ietf-ippm-stamp-ext-hdr-11</a:t>
            </a:r>
            <a:r>
              <a:rPr lang="en-001" sz="1400" dirty="0"/>
              <a:t> WGLC concluded, waiting for shepherd writeup</a:t>
            </a:r>
          </a:p>
          <a:p>
            <a:pPr>
              <a:spcBef>
                <a:spcPts val="600"/>
              </a:spcBef>
            </a:pPr>
            <a:r>
              <a:rPr lang="en-US" sz="1400" dirty="0">
                <a:hlinkClick r:id="rId7"/>
              </a:rPr>
              <a:t>draft-ietf-ippm-alt-mark-deployment-07 </a:t>
            </a:r>
            <a:r>
              <a:rPr lang="en-US" sz="1400" dirty="0"/>
              <a:t>and </a:t>
            </a:r>
            <a:br>
              <a:rPr lang="en-US" sz="1400" dirty="0"/>
            </a:br>
            <a:r>
              <a:rPr lang="en-US" sz="1400" dirty="0">
                <a:hlinkClick r:id="rId8"/>
              </a:rPr>
              <a:t>draft-ietf-ippm-alt-mark-yang-04 </a:t>
            </a:r>
            <a:r>
              <a:rPr lang="en-US" sz="1400" dirty="0"/>
              <a:t>in WG</a:t>
            </a:r>
            <a:r>
              <a:rPr lang="en-001" sz="1400" dirty="0"/>
              <a:t>LC</a:t>
            </a:r>
            <a:r>
              <a:rPr lang="en-US" sz="1400" dirty="0"/>
              <a:t> (</a:t>
            </a:r>
            <a:r>
              <a:rPr lang="en-US" sz="1400" b="1" dirty="0"/>
              <a:t>on agenda tomorrow</a:t>
            </a:r>
            <a:r>
              <a:rPr lang="en-US" sz="1400" dirty="0"/>
              <a:t>)</a:t>
            </a:r>
          </a:p>
          <a:p>
            <a:pPr>
              <a:spcBef>
                <a:spcPts val="600"/>
              </a:spcBef>
            </a:pPr>
            <a:r>
              <a:rPr lang="en-US" sz="1400" dirty="0">
                <a:hlinkClick r:id="rId9"/>
              </a:rPr>
              <a:t>draft-ietf-ippm-asymmetrical-pkts-14</a:t>
            </a:r>
            <a:r>
              <a:rPr lang="en-US" sz="1400" dirty="0"/>
              <a:t>, RFC Ed Queue</a:t>
            </a:r>
          </a:p>
          <a:p>
            <a:pPr>
              <a:spcBef>
                <a:spcPts val="600"/>
              </a:spcBef>
            </a:pPr>
            <a:r>
              <a:rPr lang="en-US" sz="1400" dirty="0">
                <a:hlinkClick r:id="rId10"/>
              </a:rPr>
              <a:t>draft-ietf-ippm-ioam-data-integrity-19</a:t>
            </a:r>
            <a:r>
              <a:rPr lang="en-US" sz="1400" dirty="0"/>
              <a:t>, IESG Evaluation</a:t>
            </a:r>
          </a:p>
          <a:p>
            <a:pPr>
              <a:spcBef>
                <a:spcPts val="600"/>
              </a:spcBef>
            </a:pPr>
            <a:r>
              <a:rPr lang="en-US" sz="1400" dirty="0">
                <a:hlinkClick r:id="rId11"/>
              </a:rPr>
              <a:t>draft-ietf-ippm-ioam-integrity-yang-08</a:t>
            </a:r>
            <a:r>
              <a:rPr lang="en-US" sz="1400" dirty="0"/>
              <a:t>, Submitted to IESG for Publication</a:t>
            </a:r>
          </a:p>
          <a:p>
            <a:pPr marL="114300" indent="0">
              <a:spcBef>
                <a:spcPts val="600"/>
              </a:spcBef>
              <a:buNone/>
            </a:pPr>
            <a:endParaRPr lang="en-US" sz="1400" b="1" dirty="0"/>
          </a:p>
        </p:txBody>
      </p:sp>
    </p:spTree>
    <p:extLst>
      <p:ext uri="{BB962C8B-B14F-4D97-AF65-F5344CB8AC3E}">
        <p14:creationId xmlns:p14="http://schemas.microsoft.com/office/powerpoint/2010/main" val="2128497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5AE71-EDF6-0091-4BD2-5BB11FDEC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3D84D-BA3F-4BC3-05B1-F1C6985A58BA}"/>
              </a:ext>
            </a:extLst>
          </p:cNvPr>
          <p:cNvSpPr>
            <a:spLocks noGrp="1"/>
          </p:cNvSpPr>
          <p:nvPr>
            <p:ph type="title"/>
          </p:nvPr>
        </p:nvSpPr>
        <p:spPr/>
        <p:txBody>
          <a:bodyPr anchor="ctr"/>
          <a:lstStyle/>
          <a:p>
            <a:r>
              <a:rPr lang="en-US" sz="3200" dirty="0"/>
              <a:t>RFC 7799bis</a:t>
            </a:r>
          </a:p>
        </p:txBody>
      </p:sp>
      <p:sp>
        <p:nvSpPr>
          <p:cNvPr id="4" name="Slide Number Placeholder 3">
            <a:extLst>
              <a:ext uri="{FF2B5EF4-FFF2-40B4-BE49-F238E27FC236}">
                <a16:creationId xmlns:a16="http://schemas.microsoft.com/office/drawing/2014/main" id="{476B1DED-3529-7970-B74C-1F263BCC4DFF}"/>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3" name="Text Placeholder 2">
            <a:extLst>
              <a:ext uri="{FF2B5EF4-FFF2-40B4-BE49-F238E27FC236}">
                <a16:creationId xmlns:a16="http://schemas.microsoft.com/office/drawing/2014/main" id="{4C3CFCCD-25C3-F0B8-5E3F-E0F483354B56}"/>
              </a:ext>
            </a:extLst>
          </p:cNvPr>
          <p:cNvSpPr>
            <a:spLocks noGrp="1"/>
          </p:cNvSpPr>
          <p:nvPr>
            <p:ph type="body" idx="1"/>
          </p:nvPr>
        </p:nvSpPr>
        <p:spPr>
          <a:xfrm>
            <a:off x="3881906" y="1801338"/>
            <a:ext cx="5133304" cy="2964037"/>
          </a:xfrm>
        </p:spPr>
        <p:txBody>
          <a:bodyPr/>
          <a:lstStyle/>
          <a:p>
            <a:pPr marL="365760" indent="-274320">
              <a:spcBef>
                <a:spcPts val="600"/>
              </a:spcBef>
              <a:buFont typeface="Arial" panose="020B0604020202020204" pitchFamily="34" charset="0"/>
              <a:buChar char="•"/>
            </a:pPr>
            <a:r>
              <a:rPr lang="en-US" sz="1200" noProof="0" dirty="0"/>
              <a:t>RFC 7799 is well established, widely used, referenced, and has been considered for being </a:t>
            </a:r>
            <a:r>
              <a:rPr lang="en-US" sz="1200" noProof="0" dirty="0">
                <a:hlinkClick r:id="rId3"/>
              </a:rPr>
              <a:t>BCP 161 </a:t>
            </a:r>
            <a:r>
              <a:rPr lang="en-US" sz="1200" noProof="0" dirty="0"/>
              <a:t>(Best Common Practice) together with </a:t>
            </a:r>
            <a:r>
              <a:rPr lang="en-US" sz="1200" noProof="0" dirty="0">
                <a:hlinkClick r:id="rId4"/>
              </a:rPr>
              <a:t>RFC 6291</a:t>
            </a:r>
            <a:r>
              <a:rPr lang="en-US" sz="1200" noProof="0" dirty="0"/>
              <a:t> and </a:t>
            </a:r>
            <a:r>
              <a:rPr lang="en-US" sz="1200" noProof="0" dirty="0">
                <a:hlinkClick r:id="rId5"/>
              </a:rPr>
              <a:t>RFC 10014</a:t>
            </a:r>
            <a:r>
              <a:rPr lang="en-US" sz="1200" noProof="0" dirty="0"/>
              <a:t>.</a:t>
            </a:r>
          </a:p>
          <a:p>
            <a:pPr marL="365760" indent="-274320">
              <a:spcBef>
                <a:spcPts val="600"/>
              </a:spcBef>
              <a:buFont typeface="Arial" panose="020B0604020202020204" pitchFamily="34" charset="0"/>
              <a:buChar char="•"/>
            </a:pPr>
            <a:r>
              <a:rPr lang="en-US" sz="1200" noProof="0" dirty="0"/>
              <a:t>At the IESG last call, the proposal </a:t>
            </a:r>
            <a:r>
              <a:rPr lang="en-US" sz="1200" noProof="0" dirty="0">
                <a:hlinkClick r:id="rId6"/>
              </a:rPr>
              <a:t>received the feedback</a:t>
            </a:r>
            <a:r>
              <a:rPr lang="en-US" sz="1200" noProof="0" dirty="0"/>
              <a:t> that since it is already 10years old, a refresh would be appreciated. </a:t>
            </a:r>
            <a:r>
              <a:rPr lang="en-US" sz="1200" dirty="0"/>
              <a:t>Giuseppe has taken the initiative and published </a:t>
            </a:r>
            <a:br>
              <a:rPr lang="en-US" sz="1200" dirty="0"/>
            </a:br>
            <a:r>
              <a:rPr lang="en-US" sz="1200" noProof="0" dirty="0">
                <a:hlinkClick r:id="rId7"/>
              </a:rPr>
              <a:t>draft-fioccola-ippm-rfc7799bis </a:t>
            </a:r>
            <a:r>
              <a:rPr lang="en-US" sz="1200" noProof="0" dirty="0"/>
              <a:t>(many thanks!)</a:t>
            </a:r>
            <a:r>
              <a:rPr lang="en-US" sz="1200" dirty="0"/>
              <a:t>. </a:t>
            </a:r>
          </a:p>
          <a:p>
            <a:pPr marL="365760" indent="-274320">
              <a:spcBef>
                <a:spcPts val="600"/>
              </a:spcBef>
              <a:buFont typeface="Arial" panose="020B0604020202020204" pitchFamily="34" charset="0"/>
              <a:buChar char="•"/>
            </a:pPr>
            <a:r>
              <a:rPr lang="en-US" sz="1200" dirty="0"/>
              <a:t>Please review and comment on the mailing list on the following thread: </a:t>
            </a:r>
            <a:r>
              <a:rPr lang="en-US" sz="1200" dirty="0">
                <a:hlinkClick r:id="rId6"/>
              </a:rPr>
              <a:t>https://mailarchive.ietf.org/arch/msg/ippm/mLhjuga9b-gGYs91mSmfdqA1VP8/</a:t>
            </a:r>
            <a:r>
              <a:rPr lang="en-US" sz="1200" dirty="0"/>
              <a:t>. </a:t>
            </a:r>
          </a:p>
          <a:p>
            <a:pPr marL="365760" indent="-274320">
              <a:spcBef>
                <a:spcPts val="600"/>
              </a:spcBef>
              <a:buFont typeface="Arial" panose="020B0604020202020204" pitchFamily="34" charset="0"/>
              <a:buChar char="•"/>
            </a:pPr>
            <a:r>
              <a:rPr lang="en-US" sz="1200" dirty="0"/>
              <a:t>We are looking forward to initiate working group adoption call.</a:t>
            </a:r>
            <a:endParaRPr lang="en-US" sz="1200" noProof="0" dirty="0">
              <a:hlinkClick r:id="rId7"/>
            </a:endParaRPr>
          </a:p>
        </p:txBody>
      </p:sp>
      <p:pic>
        <p:nvPicPr>
          <p:cNvPr id="6" name="Picture 5">
            <a:extLst>
              <a:ext uri="{FF2B5EF4-FFF2-40B4-BE49-F238E27FC236}">
                <a16:creationId xmlns:a16="http://schemas.microsoft.com/office/drawing/2014/main" id="{BA2358F9-E859-21E8-71CB-113CB451D16A}"/>
              </a:ext>
            </a:extLst>
          </p:cNvPr>
          <p:cNvPicPr>
            <a:picLocks noChangeAspect="1"/>
          </p:cNvPicPr>
          <p:nvPr/>
        </p:nvPicPr>
        <p:blipFill>
          <a:blip r:embed="rId8"/>
          <a:stretch>
            <a:fillRect/>
          </a:stretch>
        </p:blipFill>
        <p:spPr>
          <a:xfrm>
            <a:off x="310915" y="1760761"/>
            <a:ext cx="3571890" cy="2750279"/>
          </a:xfrm>
          <a:prstGeom prst="rect">
            <a:avLst/>
          </a:prstGeom>
        </p:spPr>
      </p:pic>
      <p:sp>
        <p:nvSpPr>
          <p:cNvPr id="8" name="TextBox 7">
            <a:extLst>
              <a:ext uri="{FF2B5EF4-FFF2-40B4-BE49-F238E27FC236}">
                <a16:creationId xmlns:a16="http://schemas.microsoft.com/office/drawing/2014/main" id="{828DC0BA-F80F-FD0F-448C-2F7FEF399C05}"/>
              </a:ext>
            </a:extLst>
          </p:cNvPr>
          <p:cNvSpPr txBox="1"/>
          <p:nvPr/>
        </p:nvSpPr>
        <p:spPr>
          <a:xfrm>
            <a:off x="128790" y="4536829"/>
            <a:ext cx="3754014" cy="200055"/>
          </a:xfrm>
          <a:prstGeom prst="rect">
            <a:avLst/>
          </a:prstGeom>
          <a:noFill/>
        </p:spPr>
        <p:txBody>
          <a:bodyPr wrap="square">
            <a:spAutoFit/>
          </a:bodyPr>
          <a:lstStyle/>
          <a:p>
            <a:pPr marL="114300" indent="0">
              <a:spcBef>
                <a:spcPts val="1200"/>
              </a:spcBef>
              <a:buNone/>
            </a:pPr>
            <a:r>
              <a:rPr lang="en-US" sz="700" dirty="0">
                <a:latin typeface="Inter" panose="020B0604020202020204" charset="0"/>
                <a:ea typeface="Inter" panose="020B0604020202020204" charset="0"/>
                <a:hlinkClick r:id="rId9"/>
              </a:rPr>
              <a:t>https://datatracker.ietf.org/doc/status-change-ippm-active-passive-methods/</a:t>
            </a:r>
            <a:endParaRPr lang="en-US" sz="700" dirty="0">
              <a:latin typeface="Inter" panose="020B0604020202020204" charset="0"/>
              <a:ea typeface="Inter" panose="020B0604020202020204" charset="0"/>
            </a:endParaRPr>
          </a:p>
        </p:txBody>
      </p:sp>
    </p:spTree>
    <p:extLst>
      <p:ext uri="{BB962C8B-B14F-4D97-AF65-F5344CB8AC3E}">
        <p14:creationId xmlns:p14="http://schemas.microsoft.com/office/powerpoint/2010/main" val="3043113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Resources for </a:t>
            </a:r>
            <a:r>
              <a:rPr lang="en-US" sz="3600" b="0" i="0" u="none" strike="noStrike" cap="none" dirty="0">
                <a:solidFill>
                  <a:srgbClr val="FFFFFF"/>
                </a:solidFill>
                <a:latin typeface="Open Sans"/>
                <a:ea typeface="Open Sans"/>
                <a:cs typeface="Open Sans"/>
                <a:sym typeface="Open Sans"/>
              </a:rPr>
              <a:t>IETF </a:t>
            </a:r>
            <a:r>
              <a:rPr lang="en-US" dirty="0"/>
              <a:t>126 </a:t>
            </a:r>
            <a:r>
              <a:rPr lang="de-CH" dirty="0"/>
              <a:t>Vienna</a:t>
            </a:r>
            <a:endParaRPr dirty="0"/>
          </a:p>
          <a:p>
            <a:pPr marL="0" marR="0" lvl="0" indent="0" algn="l" rtl="0">
              <a:lnSpc>
                <a:spcPct val="100000"/>
              </a:lnSpc>
              <a:spcBef>
                <a:spcPts val="0"/>
              </a:spcBef>
              <a:spcAft>
                <a:spcPts val="0"/>
              </a:spcAft>
              <a:buClr>
                <a:srgbClr val="FFFFFF"/>
              </a:buClr>
              <a:buSzPts val="3600"/>
              <a:buFont typeface="Open Sans"/>
              <a:buNone/>
            </a:pPr>
            <a:endParaRPr sz="2400" dirty="0">
              <a:solidFill>
                <a:srgbClr val="FFFFFF"/>
              </a:solidFill>
            </a:endParaRPr>
          </a:p>
        </p:txBody>
      </p:sp>
      <p:sp>
        <p:nvSpPr>
          <p:cNvPr id="129" name="Google Shape;129;p23"/>
          <p:cNvSpPr txBox="1">
            <a:spLocks noGrp="1"/>
          </p:cNvSpPr>
          <p:nvPr>
            <p:ph type="body" idx="1"/>
          </p:nvPr>
        </p:nvSpPr>
        <p:spPr>
          <a:xfrm>
            <a:off x="471900" y="1919074"/>
            <a:ext cx="8222100" cy="2710200"/>
          </a:xfrm>
          <a:prstGeom prst="rect">
            <a:avLst/>
          </a:prstGeom>
          <a:noFill/>
          <a:ln>
            <a:noFill/>
          </a:ln>
        </p:spPr>
        <p:txBody>
          <a:bodyPr spcFirstLastPara="1" wrap="square" lIns="91400" tIns="91400" rIns="91400" bIns="91400" anchor="t" anchorCtr="0">
            <a:noAutofit/>
          </a:bodyPr>
          <a:lstStyle/>
          <a:p>
            <a:pPr marL="457200" marR="0" lvl="0" indent="-342900" algn="l" rtl="0">
              <a:lnSpc>
                <a:spcPct val="110000"/>
              </a:lnSpc>
              <a:spcBef>
                <a:spcPts val="300"/>
              </a:spcBef>
              <a:spcAft>
                <a:spcPts val="0"/>
              </a:spcAft>
              <a:buClr>
                <a:srgbClr val="000000"/>
              </a:buClr>
              <a:buSzPts val="1800"/>
              <a:buChar char="●"/>
            </a:pPr>
            <a:r>
              <a:rPr lang="en-US">
                <a:solidFill>
                  <a:srgbClr val="000000"/>
                </a:solidFill>
              </a:rPr>
              <a:t>Agenda</a:t>
            </a:r>
            <a:br>
              <a:rPr lang="en-US" b="1">
                <a:solidFill>
                  <a:srgbClr val="000000"/>
                </a:solidFill>
              </a:rPr>
            </a:br>
            <a:r>
              <a:rPr lang="en-US" u="sng">
                <a:solidFill>
                  <a:schemeClr val="hlink"/>
                </a:solidFill>
                <a:hlinkClick r:id="rId3"/>
              </a:rPr>
              <a:t>https://datatracker.ietf.org/meeting/agenda</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Meetecho and other information:</a:t>
            </a:r>
            <a:br>
              <a:rPr lang="en-US">
                <a:solidFill>
                  <a:srgbClr val="000000"/>
                </a:solidFill>
              </a:rPr>
            </a:br>
            <a:r>
              <a:rPr lang="en-US" u="sng">
                <a:solidFill>
                  <a:schemeClr val="hlink"/>
                </a:solidFill>
                <a:hlinkClick r:id="rId4"/>
              </a:rPr>
              <a:t>https://www.ietf.org/how/meetings/preparation</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If you need technical assistance, see the Reporting Issues page:</a:t>
            </a:r>
            <a:br>
              <a:rPr lang="en-US">
                <a:solidFill>
                  <a:srgbClr val="000000"/>
                </a:solidFill>
              </a:rPr>
            </a:br>
            <a:r>
              <a:rPr lang="en-US" u="sng">
                <a:solidFill>
                  <a:schemeClr val="hlink"/>
                </a:solidFill>
                <a:hlinkClick r:id="rId5"/>
              </a:rPr>
              <a:t>http://www.ietf.org/how/meetings/issues/</a:t>
            </a:r>
            <a:endParaRPr>
              <a:solidFill>
                <a:srgbClr val="000000"/>
              </a:solidFill>
            </a:endParaRPr>
          </a:p>
        </p:txBody>
      </p:sp>
      <p:sp>
        <p:nvSpPr>
          <p:cNvPr id="130" name="Google Shape;130;p23"/>
          <p:cNvSpPr txBox="1">
            <a:spLocks noGrp="1"/>
          </p:cNvSpPr>
          <p:nvPr>
            <p:ph type="sldNum" idx="12"/>
          </p:nvPr>
        </p:nvSpPr>
        <p:spPr>
          <a:xfrm>
            <a:off x="8694000" y="4724798"/>
            <a:ext cx="378328"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14</a:t>
            </a:fld>
            <a:endParaRPr dirty="0"/>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8792A905D4FBE4781303B372FFF56B7" ma:contentTypeVersion="18" ma:contentTypeDescription="Ein neues Dokument erstellen." ma:contentTypeScope="" ma:versionID="1bed101c48ab8d637c0f10f3a19033d6">
  <xsd:schema xmlns:xsd="http://www.w3.org/2001/XMLSchema" xmlns:xs="http://www.w3.org/2001/XMLSchema" xmlns:p="http://schemas.microsoft.com/office/2006/metadata/properties" xmlns:ns3="3e5e162a-5953-4fde-83b3-9639e6ab13bb" xmlns:ns4="266fa233-377d-43d6-82a1-e70154e55ff7" targetNamespace="http://schemas.microsoft.com/office/2006/metadata/properties" ma:root="true" ma:fieldsID="ad54ca06dfd6fdd081bd33575dcf7e57" ns3:_="" ns4:_="">
    <xsd:import namespace="3e5e162a-5953-4fde-83b3-9639e6ab13bb"/>
    <xsd:import namespace="266fa233-377d-43d6-82a1-e70154e55ff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5e162a-5953-4fde-83b3-9639e6ab1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66fa233-377d-43d6-82a1-e70154e55ff7"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element name="SharingHintHash" ma:index="18"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e5e162a-5953-4fde-83b3-9639e6ab13bb" xsi:nil="true"/>
  </documentManagement>
</p:properties>
</file>

<file path=customXml/itemProps1.xml><?xml version="1.0" encoding="utf-8"?>
<ds:datastoreItem xmlns:ds="http://schemas.openxmlformats.org/officeDocument/2006/customXml" ds:itemID="{F4805544-B524-4E4A-B7C1-6ABFC59992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5e162a-5953-4fde-83b3-9639e6ab13bb"/>
    <ds:schemaRef ds:uri="266fa233-377d-43d6-82a1-e70154e55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104BBC9-6B71-4DC1-A0E0-1E198363AC7F}">
  <ds:schemaRefs>
    <ds:schemaRef ds:uri="http://schemas.microsoft.com/sharepoint/v3/contenttype/forms"/>
  </ds:schemaRefs>
</ds:datastoreItem>
</file>

<file path=customXml/itemProps3.xml><?xml version="1.0" encoding="utf-8"?>
<ds:datastoreItem xmlns:ds="http://schemas.openxmlformats.org/officeDocument/2006/customXml" ds:itemID="{3D7021EF-4D3D-4708-92FB-F2CD02CEF7A1}">
  <ds:schemaRefs>
    <ds:schemaRef ds:uri="http://purl.org/dc/elements/1.1/"/>
    <ds:schemaRef ds:uri="3e5e162a-5953-4fde-83b3-9639e6ab13bb"/>
    <ds:schemaRef ds:uri="266fa233-377d-43d6-82a1-e70154e55ff7"/>
    <ds:schemaRef ds:uri="http://purl.org/dc/term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2e1fccfb-80ca-4fe1-a574-1516544edb53}" enabled="1" method="Standard" siteId="{364e5b87-c1c7-420d-9bee-c35d19b557a1}" removed="0"/>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otalTime>3</TotalTime>
  <Words>1474</Words>
  <Application>Microsoft Office PowerPoint</Application>
  <PresentationFormat>On-screen Show (16:9)</PresentationFormat>
  <Paragraphs>94</Paragraphs>
  <Slides>14</Slides>
  <Notes>13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14</vt:i4>
      </vt:variant>
    </vt:vector>
  </HeadingPairs>
  <TitlesOfParts>
    <vt:vector size="24" baseType="lpstr">
      <vt:lpstr>Open Sans Medium</vt:lpstr>
      <vt:lpstr>Montserrat</vt:lpstr>
      <vt:lpstr>Open Sans SemiBold</vt:lpstr>
      <vt:lpstr>Inter</vt:lpstr>
      <vt:lpstr>Roboto</vt:lpstr>
      <vt:lpstr>Open Sans</vt:lpstr>
      <vt:lpstr>Arial</vt:lpstr>
      <vt:lpstr>Material</vt:lpstr>
      <vt:lpstr>IETF Template</vt:lpstr>
      <vt:lpstr>1_IETF Template</vt:lpstr>
      <vt:lpstr>IETF 126 BMWG &amp; IPPM (1)</vt:lpstr>
      <vt:lpstr>Note Well</vt:lpstr>
      <vt:lpstr>Note Really Well</vt:lpstr>
      <vt:lpstr>IETF 126 Meeting Tips</vt:lpstr>
      <vt:lpstr>BMWG charter</vt:lpstr>
      <vt:lpstr>IPPM charter</vt:lpstr>
      <vt:lpstr>Notetaker</vt:lpstr>
      <vt:lpstr>Agenda – Working Group Documents</vt:lpstr>
      <vt:lpstr>Agenda – Proposed Work</vt:lpstr>
      <vt:lpstr>Joint Charter Discussion</vt:lpstr>
      <vt:lpstr>BMWG Document Updates Since IETF 125</vt:lpstr>
      <vt:lpstr>IPPM Document Updates Since IETF 125</vt:lpstr>
      <vt:lpstr>RFC 7799bis</vt:lpstr>
      <vt:lpstr>Resources for IETF 126 Vienna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123 BMWG &amp; IPPM</dc:title>
  <dc:creator>Graf Thomas, INI-NET-VNC-E2E</dc:creator>
  <cp:lastModifiedBy>Marcus Ihlar</cp:lastModifiedBy>
  <cp:revision>32</cp:revision>
  <dcterms:modified xsi:type="dcterms:W3CDTF">2026-07-22T07:31:58Z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0x01010028792A905D4FBE4781303B372FFF56B7</vt:lpwstr>
  </property>
  <property fmtid="{D5CDD505-2E9C-101B-9397-08002B2CF9AE}" pid="3" name="_readonly">
    <vt:lpwstr/>
  </property>
  <property fmtid="{D5CDD505-2E9C-101B-9397-08002B2CF9AE}" pid="4" name="_change">
    <vt:lpwstr/>
  </property>
  <property fmtid="{D5CDD505-2E9C-101B-9397-08002B2CF9AE}" pid="5" name="_full-control">
    <vt:lpwstr/>
  </property>
  <property fmtid="{D5CDD505-2E9C-101B-9397-08002B2CF9AE}" pid="6" name="sflag">
    <vt:lpwstr>1773045390</vt:lpwstr>
  </property>
</Properties>
</file>